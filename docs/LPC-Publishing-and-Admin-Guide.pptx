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f4f75661c1c4ba9" /><Relationship Type="http://schemas.openxmlformats.org/officeDocument/2006/relationships/extended-properties" Target="/docProps/app.xml" Id="Rd3fda3e2f9cd4b5c" /><Relationship Type="http://schemas.openxmlformats.org/officeDocument/2006/relationships/officeDocument" Target="/ppt/presentation.xml" Id="R12185dcf5bf045c8" /></Relationships>
</file>

<file path=ppt/presentation.xml><?xml version="1.0" encoding="utf-8"?>
<p:presentation xmlns:p="http://schemas.openxmlformats.org/presentationml/2006/main">
  <p:sldMasterIdLst>
    <p:sldMasterId xmlns:r="http://schemas.openxmlformats.org/officeDocument/2006/relationships" id="2147483648" r:id="R666364a4da844bf2"/>
  </p:sldMasterIdLst>
  <p:notesMasterIdLst>
    <p:notesMasterId xmlns:r="http://schemas.openxmlformats.org/officeDocument/2006/relationships" r:id="Re6c1a90dcf2d44f1"/>
  </p:notesMasterIdLst>
  <p:sldIdLst>
    <p:sldId xmlns:r="http://schemas.openxmlformats.org/officeDocument/2006/relationships" id="256" r:id="Rb1d6dae50c88402f"/>
    <p:sldId xmlns:r="http://schemas.openxmlformats.org/officeDocument/2006/relationships" id="257" r:id="R646bd85379444e17"/>
    <p:sldId xmlns:r="http://schemas.openxmlformats.org/officeDocument/2006/relationships" id="258" r:id="R1eedab9cc0c14c7e"/>
    <p:sldId xmlns:r="http://schemas.openxmlformats.org/officeDocument/2006/relationships" id="259" r:id="R8a08c6fe04364ae4"/>
    <p:sldId xmlns:r="http://schemas.openxmlformats.org/officeDocument/2006/relationships" id="260" r:id="R17a51899e7f44949"/>
    <p:sldId xmlns:r="http://schemas.openxmlformats.org/officeDocument/2006/relationships" id="261" r:id="R101709c11a904796"/>
    <p:sldId xmlns:r="http://schemas.openxmlformats.org/officeDocument/2006/relationships" id="262" r:id="R3b8747953ee0452e"/>
    <p:sldId xmlns:r="http://schemas.openxmlformats.org/officeDocument/2006/relationships" id="263" r:id="R7e66dcdb14af4b1a"/>
    <p:sldId xmlns:r="http://schemas.openxmlformats.org/officeDocument/2006/relationships" id="264" r:id="R89ca0a19a86e4920"/>
    <p:sldId xmlns:r="http://schemas.openxmlformats.org/officeDocument/2006/relationships" id="265" r:id="R753215d209ff4d56"/>
    <p:sldId xmlns:r="http://schemas.openxmlformats.org/officeDocument/2006/relationships" id="266" r:id="R958a4913dfef41e2"/>
    <p:sldId xmlns:r="http://schemas.openxmlformats.org/officeDocument/2006/relationships" id="267" r:id="R545458cc67bc4f5f"/>
    <p:sldId xmlns:r="http://schemas.openxmlformats.org/officeDocument/2006/relationships" id="268" r:id="R880e8126ad524fc2"/>
    <p:sldId xmlns:r="http://schemas.openxmlformats.org/officeDocument/2006/relationships" id="269" r:id="R6af972b2c0374d57"/>
    <p:sldId xmlns:r="http://schemas.openxmlformats.org/officeDocument/2006/relationships" id="270" r:id="Re3bb11f4210a40af"/>
    <p:sldId xmlns:r="http://schemas.openxmlformats.org/officeDocument/2006/relationships" id="271" r:id="R5bf0662a967a4bca"/>
    <p:sldId xmlns:r="http://schemas.openxmlformats.org/officeDocument/2006/relationships" id="272" r:id="R15c3db05467f4a7c"/>
    <p:sldId xmlns:r="http://schemas.openxmlformats.org/officeDocument/2006/relationships" id="273" r:id="R70b64022412e47fe"/>
    <p:sldId xmlns:r="http://schemas.openxmlformats.org/officeDocument/2006/relationships" id="274" r:id="R2e887a6d0a534d00"/>
    <p:sldId xmlns:r="http://schemas.openxmlformats.org/officeDocument/2006/relationships" id="275" r:id="R9530cf445ab941ea"/>
    <p:sldId xmlns:r="http://schemas.openxmlformats.org/officeDocument/2006/relationships" id="276" r:id="Rf159f68ada7d4eba"/>
    <p:sldId xmlns:r="http://schemas.openxmlformats.org/officeDocument/2006/relationships" id="277" r:id="Rdac2388ae3fc4b4f"/>
    <p:sldId xmlns:r="http://schemas.openxmlformats.org/officeDocument/2006/relationships" id="278" r:id="R2ad7f51b5e02406d"/>
    <p:sldId xmlns:r="http://schemas.openxmlformats.org/officeDocument/2006/relationships" id="279" r:id="R7a2519b1163f48e3"/>
    <p:sldId xmlns:r="http://schemas.openxmlformats.org/officeDocument/2006/relationships" id="280" r:id="R5180324ac28d4fb5"/>
    <p:sldId xmlns:r="http://schemas.openxmlformats.org/officeDocument/2006/relationships" id="281" r:id="Rd8b334c80f1f45d4"/>
    <p:sldId xmlns:r="http://schemas.openxmlformats.org/officeDocument/2006/relationships" id="282" r:id="Rb0ed223ba54b454c"/>
    <p:sldId xmlns:r="http://schemas.openxmlformats.org/officeDocument/2006/relationships" id="283" r:id="Rb36ea153434f4331"/>
    <p:sldId xmlns:r="http://schemas.openxmlformats.org/officeDocument/2006/relationships" id="284" r:id="R2168a70680884dd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9bee1451fc14a4b" /><Relationship Type="http://schemas.openxmlformats.org/officeDocument/2006/relationships/slideMaster" Target="/ppt/slideMasters/slideMaster1.xml" Id="R666364a4da844bf2" /><Relationship Type="http://schemas.openxmlformats.org/officeDocument/2006/relationships/notesMaster" Target="/ppt/notesMasters/notesMaster1.xml" Id="Re6c1a90dcf2d44f1" /><Relationship Type="http://schemas.openxmlformats.org/officeDocument/2006/relationships/presProps" Target="/ppt/presProps.xml" Id="R9dadb2c7a5fb414e" /><Relationship Type="http://schemas.openxmlformats.org/officeDocument/2006/relationships/tableStyles" Target="/ppt/tableStyles.xml" Id="Ra6b04628b6884c84" /><Relationship Type="http://schemas.openxmlformats.org/officeDocument/2006/relationships/slide" Target="/ppt/slides/slide1.xml" Id="Rb1d6dae50c88402f" /><Relationship Type="http://schemas.openxmlformats.org/officeDocument/2006/relationships/slide" Target="/ppt/slides/slide2.xml" Id="R646bd85379444e17" /><Relationship Type="http://schemas.openxmlformats.org/officeDocument/2006/relationships/slide" Target="/ppt/slides/slide3.xml" Id="R1eedab9cc0c14c7e" /><Relationship Type="http://schemas.openxmlformats.org/officeDocument/2006/relationships/slide" Target="/ppt/slides/slide4.xml" Id="R8a08c6fe04364ae4" /><Relationship Type="http://schemas.openxmlformats.org/officeDocument/2006/relationships/slide" Target="/ppt/slides/slide5.xml" Id="R17a51899e7f44949" /><Relationship Type="http://schemas.openxmlformats.org/officeDocument/2006/relationships/slide" Target="/ppt/slides/slide6.xml" Id="R101709c11a904796" /><Relationship Type="http://schemas.openxmlformats.org/officeDocument/2006/relationships/slide" Target="/ppt/slides/slide7.xml" Id="R3b8747953ee0452e" /><Relationship Type="http://schemas.openxmlformats.org/officeDocument/2006/relationships/slide" Target="/ppt/slides/slide8.xml" Id="R7e66dcdb14af4b1a" /><Relationship Type="http://schemas.openxmlformats.org/officeDocument/2006/relationships/slide" Target="/ppt/slides/slide9.xml" Id="R89ca0a19a86e4920" /><Relationship Type="http://schemas.openxmlformats.org/officeDocument/2006/relationships/slide" Target="/ppt/slides/slide10.xml" Id="R753215d209ff4d56" /><Relationship Type="http://schemas.openxmlformats.org/officeDocument/2006/relationships/slide" Target="/ppt/slides/slide11.xml" Id="R958a4913dfef41e2" /><Relationship Type="http://schemas.openxmlformats.org/officeDocument/2006/relationships/slide" Target="/ppt/slides/slide12.xml" Id="R545458cc67bc4f5f" /><Relationship Type="http://schemas.openxmlformats.org/officeDocument/2006/relationships/slide" Target="/ppt/slides/slide13.xml" Id="R880e8126ad524fc2" /><Relationship Type="http://schemas.openxmlformats.org/officeDocument/2006/relationships/slide" Target="/ppt/slides/slide14.xml" Id="R6af972b2c0374d57" /><Relationship Type="http://schemas.openxmlformats.org/officeDocument/2006/relationships/slide" Target="/ppt/slides/slide15.xml" Id="Re3bb11f4210a40af" /><Relationship Type="http://schemas.openxmlformats.org/officeDocument/2006/relationships/slide" Target="/ppt/slides/slide16.xml" Id="R5bf0662a967a4bca" /><Relationship Type="http://schemas.openxmlformats.org/officeDocument/2006/relationships/slide" Target="/ppt/slides/slide17.xml" Id="R15c3db05467f4a7c" /><Relationship Type="http://schemas.openxmlformats.org/officeDocument/2006/relationships/slide" Target="/ppt/slides/slide18.xml" Id="R70b64022412e47fe" /><Relationship Type="http://schemas.openxmlformats.org/officeDocument/2006/relationships/slide" Target="/ppt/slides/slide19.xml" Id="R2e887a6d0a534d00" /><Relationship Type="http://schemas.openxmlformats.org/officeDocument/2006/relationships/slide" Target="/ppt/slides/slide20.xml" Id="R9530cf445ab941ea" /><Relationship Type="http://schemas.openxmlformats.org/officeDocument/2006/relationships/slide" Target="/ppt/slides/slide21.xml" Id="Rf159f68ada7d4eba" /><Relationship Type="http://schemas.openxmlformats.org/officeDocument/2006/relationships/slide" Target="/ppt/slides/slide22.xml" Id="Rdac2388ae3fc4b4f" /><Relationship Type="http://schemas.openxmlformats.org/officeDocument/2006/relationships/slide" Target="/ppt/slides/slide23.xml" Id="R2ad7f51b5e02406d" /><Relationship Type="http://schemas.openxmlformats.org/officeDocument/2006/relationships/slide" Target="/ppt/slides/slide24.xml" Id="R7a2519b1163f48e3" /><Relationship Type="http://schemas.openxmlformats.org/officeDocument/2006/relationships/slide" Target="/ppt/slides/slide25.xml" Id="R5180324ac28d4fb5" /><Relationship Type="http://schemas.openxmlformats.org/officeDocument/2006/relationships/slide" Target="/ppt/slides/slide26.xml" Id="Rd8b334c80f1f45d4" /><Relationship Type="http://schemas.openxmlformats.org/officeDocument/2006/relationships/slide" Target="/ppt/slides/slide27.xml" Id="Rb0ed223ba54b454c" /><Relationship Type="http://schemas.openxmlformats.org/officeDocument/2006/relationships/slide" Target="/ppt/slides/slide28.xml" Id="Rb36ea153434f4331" /><Relationship Type="http://schemas.openxmlformats.org/officeDocument/2006/relationships/slide" Target="/ppt/slides/slide29.xml" Id="R2168a70680884d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1888ebb64ce429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924cb55af834367" /><Relationship Type="http://schemas.openxmlformats.org/officeDocument/2006/relationships/notesMaster" Target="/ppt/notesMasters/notesMaster1.xml" Id="R1e5ad214a91f41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92d50c528174d6f" /><Relationship Type="http://schemas.openxmlformats.org/officeDocument/2006/relationships/notesMaster" Target="/ppt/notesMasters/notesMaster1.xml" Id="R3edd5ebf5bd94d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00c36d222c0e463c" /><Relationship Type="http://schemas.openxmlformats.org/officeDocument/2006/relationships/notesMaster" Target="/ppt/notesMasters/notesMaster1.xml" Id="R3e1682ad8b5a4a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2eb900de814e4ebb" /><Relationship Type="http://schemas.openxmlformats.org/officeDocument/2006/relationships/notesMaster" Target="/ppt/notesMasters/notesMaster1.xml" Id="Rb476e17f258245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f9c4f272f74724" /><Relationship Type="http://schemas.openxmlformats.org/officeDocument/2006/relationships/notesMaster" Target="/ppt/notesMasters/notesMaster1.xml" Id="R7563b8bd9a534821" /></Relationships>
</file>

<file path=ppt/notesSlides/_rels/notesSlide6.xml.rels>&#65279;<?xml version="1.0" encoding="utf-8"?><Relationships xmlns="http://schemas.openxmlformats.org/package/2006/relationships"><Relationship Type="http://schemas.openxmlformats.org/officeDocument/2006/relationships/slide" Target="/ppt/slides/slide6.xml" Id="Rdef24fd0d2fe4e96" /><Relationship Type="http://schemas.openxmlformats.org/officeDocument/2006/relationships/notesMaster" Target="/ppt/notesMasters/notesMaster1.xml" Id="Re333086dd43a4970" /></Relationships>
</file>

<file path=ppt/notesSlides/_rels/notesSlide7.xml.rels>&#65279;<?xml version="1.0" encoding="utf-8"?><Relationships xmlns="http://schemas.openxmlformats.org/package/2006/relationships"><Relationship Type="http://schemas.openxmlformats.org/officeDocument/2006/relationships/slide" Target="/ppt/slides/slide7.xml" Id="R72302e3ffddb48b1" /><Relationship Type="http://schemas.openxmlformats.org/officeDocument/2006/relationships/notesMaster" Target="/ppt/notesMasters/notesMaster1.xml" Id="R8e01d5fe3f2340bd" /></Relationships>
</file>

<file path=ppt/notesSlides/_rels/notesSlide8.xml.rels>&#65279;<?xml version="1.0" encoding="utf-8"?><Relationships xmlns="http://schemas.openxmlformats.org/package/2006/relationships"><Relationship Type="http://schemas.openxmlformats.org/officeDocument/2006/relationships/slide" Target="/ppt/slides/slide8.xml" Id="R63ad13b0562e4cc0" /><Relationship Type="http://schemas.openxmlformats.org/officeDocument/2006/relationships/notesMaster" Target="/ppt/notesMasters/notesMaster1.xml" Id="R0921d634e3634f6f" /></Relationships>
</file>

<file path=ppt/notesSlides/_rels/notesSlide9.xml.rels>&#65279;<?xml version="1.0" encoding="utf-8"?><Relationships xmlns="http://schemas.openxmlformats.org/package/2006/relationships"><Relationship Type="http://schemas.openxmlformats.org/officeDocument/2006/relationships/slide" Target="/ppt/slides/slide9.xml" Id="R0c349f4ab6ce4126" /><Relationship Type="http://schemas.openxmlformats.org/officeDocument/2006/relationships/notesMaster" Target="/ppt/notesMasters/notesMaster1.xml" Id="R86a771682d914ac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c93db80306041ea" /><Relationship Type="http://schemas.openxmlformats.org/officeDocument/2006/relationships/notesMaster" Target="/ppt/notesMasters/notesMaster1.xml" Id="R351b52f74d32402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7aaf8dfd99e46dc" /><Relationship Type="http://schemas.openxmlformats.org/officeDocument/2006/relationships/notesMaster" Target="/ppt/notesMasters/notesMaster1.xml" Id="Ra3682f61ca7f470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95e218168e84b73" /><Relationship Type="http://schemas.openxmlformats.org/officeDocument/2006/relationships/notesMaster" Target="/ppt/notesMasters/notesMaster1.xml" Id="Re9c96daf93a24de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10094e4ffcd4f8f" /><Relationship Type="http://schemas.openxmlformats.org/officeDocument/2006/relationships/notesMaster" Target="/ppt/notesMasters/notesMaster1.xml" Id="R6be8c6fb8e1c431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639eb5366ac4a8d" /><Relationship Type="http://schemas.openxmlformats.org/officeDocument/2006/relationships/notesMaster" Target="/ppt/notesMasters/notesMaster1.xml" Id="Rfb2d84a3e156454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7a52ec471a6423c" /><Relationship Type="http://schemas.openxmlformats.org/officeDocument/2006/relationships/notesMaster" Target="/ppt/notesMasters/notesMaster1.xml" Id="Ra39746f0e7be430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71354e621ea44e3" /><Relationship Type="http://schemas.openxmlformats.org/officeDocument/2006/relationships/notesMaster" Target="/ppt/notesMasters/notesMaster1.xml" Id="Rd99faf011b6b400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4e0e81626c341c0" /><Relationship Type="http://schemas.openxmlformats.org/officeDocument/2006/relationships/notesMaster" Target="/ppt/notesMasters/notesMaster1.xml" Id="Rb6e5238b01af4b4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473e16fe2a444ea" /><Relationship Type="http://schemas.openxmlformats.org/officeDocument/2006/relationships/notesMaster" Target="/ppt/notesMasters/notesMaster1.xml" Id="R12c54b1a72854a0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d403ca24a7d4baf" /><Relationship Type="http://schemas.openxmlformats.org/officeDocument/2006/relationships/notesMaster" Target="/ppt/notesMasters/notesMaster1.xml" Id="Rd76aa3e338704e2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e67eb92730148b7" /><Relationship Type="http://schemas.openxmlformats.org/officeDocument/2006/relationships/notesMaster" Target="/ppt/notesMasters/notesMaster1.xml" Id="Rc1b320ef5ddd4b0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9eb3c0bc97b4c40" /><Relationship Type="http://schemas.openxmlformats.org/officeDocument/2006/relationships/notesMaster" Target="/ppt/notesMasters/notesMaster1.xml" Id="R277fa96fed86401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0cfb0e3045c4c67" /><Relationship Type="http://schemas.openxmlformats.org/officeDocument/2006/relationships/notesMaster" Target="/ppt/notesMasters/notesMaster1.xml" Id="Rac2a6539fbc3498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c315fc1831f4812" /><Relationship Type="http://schemas.openxmlformats.org/officeDocument/2006/relationships/notesMaster" Target="/ppt/notesMasters/notesMaster1.xml" Id="Re40cc83894e841c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b6ca8990f084c42" /><Relationship Type="http://schemas.openxmlformats.org/officeDocument/2006/relationships/notesMaster" Target="/ppt/notesMasters/notesMaster1.xml" Id="Rd71cc566052240a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78bf46fa9614d5c" /><Relationship Type="http://schemas.openxmlformats.org/officeDocument/2006/relationships/notesMaster" Target="/ppt/notesMasters/notesMaster1.xml" Id="R1a559ee6cd9845c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2214e82f4784422" /><Relationship Type="http://schemas.openxmlformats.org/officeDocument/2006/relationships/notesMaster" Target="/ppt/notesMasters/notesMaster1.xml" Id="R240ed1b2fb5942d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3f618ed4a1e42ce" /><Relationship Type="http://schemas.openxmlformats.org/officeDocument/2006/relationships/notesMaster" Target="/ppt/notesMasters/notesMaster1.xml" Id="R86a5556d11a34f8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47a3cef52394d58" /><Relationship Type="http://schemas.openxmlformats.org/officeDocument/2006/relationships/notesMaster" Target="/ppt/notesMasters/notesMaster1.xml" Id="Rf3bf8743ddd9481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5c423d8eeab4a01" /><Relationship Type="http://schemas.openxmlformats.org/officeDocument/2006/relationships/notesMaster" Target="/ppt/notesMasters/notesMaster1.xml" Id="Rdcdf71ca16be40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guide describes the Node/Docker release. It does not imply that production email or a remote deployment has been activated.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release excludes credentials, Git history, dependencies and generated build copies. Missing required originals were recovered from previous local packages.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GitHub Pages alone cannot execute these Node endpoints. The alternate Worker adapter is included but is not the documented deployment target for this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evaluation credentials are admin / lpc2026 unless overridden. If the port is occupied, PowerShell: $env:PORT="4180"; npm start. Environment variables are read from the process; the server does not automatically load .env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GitHub Desktop: Add Local Repository, create repository if needed, review changes, commit and Publish Repository. Terminal alternative: git init; git add .; git commit -m "Initial LPC website release"; connect the actual repository remote and push. Do not overwrite a repository containing unrelated site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Railway volumes mount at runtime. The startup script seeds missing files from the packaged assets/data directory while preserving existing stored files. Source: https://docs.railway.com/volumes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Production startup is node scripts/start-production.mjs. It refuses to run without the three admin settings. Use strong unique values in hosting service variables; never commit them. The sample file documents optional calendar and email variables.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domain root so /api and /uploads paths resolve. Verify Settings &gt; Source points to this repository, not the separate WordPress site. No DNS or deployment changes were performed while preparing this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initial deployment the volume is the source of truth for edited settings. Code updates do not overwrite existing volume configuration. A branch JSON export is only part of a complete backup.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editor exposes one shared administrator account, not individual editor roles or an audit trail. Credentials are not changed inside the website. Use HTTPS, restrict access appropriately, and rotate server variables when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current maintenance areas. General page copy, layout and ministry programme text are maintained in source code unless a dedicated editor exists. The calendar itself is maintained in Outlook.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branch record also accepts a calendarLabel such as Bexleyheath, South London. That field currently lives in branches.json rather than a dedicated admin control. Export saved JSON and Import JSON allow review before saving.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Branch identifiers are stable keys and form the hash URL. Removing a branch does not automatically delete images or old hero settings. Back up before removing. Existing populated data is protected by revision checks against concurrent saves.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the upload action from assigning an image. Hero settings support desktop/mobile crops and optional videos. New branch hero tiles follow the saved list; removed branch tiles disappear.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Home has its own video/poster configuration. A blank hero video displays the selected image. Cover crops the image; contain preserves the full image; fill can distort it. Use contain for posters with text where appropriate.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editor discovers inline image elements in the selected public page. It excludes footer branding, branch cards, hero sections and team-folder images. It does not expose CSS background images, icons or externally generated YouTube thumbnails.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library metadata may show 0 KB because the Node listing does not include size. Automatic protection in the Node adapter is incomplete for branch, pastor and page-image references; review the manifest and current selections before deleting. Deletion is permanent for uploads.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weekly thought editor includes heading, body, author, date and call-to-action fields. Review long text on mobile after publishing. Founder or other fixed content may still live in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site uses the currently published ICS calendar. The supplied ownership address has not been authenticated through Microsoft Graph. Calendar editors need appropriate access to Church Events in Microsoft 365.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default is in worker/calendar.mjs. Environment variable overrides it; changing the variable requires restart/redeploy. Keep the published feed URL with authorised maintainers. The HTML view is for people; the .ics URL is used by the server.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limit applies before grouping. A busy calendar can omit later occurrences in the month when it exceeds 30. Maintain accurate locations and use a distinct event title; a blank title becomes Church event. Times display in Europe/London.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Southend-on-Sea matching normalises punctuation and common church words. Use consistent venue names to avoid splitting the same location across tiles. Matching is inferred from branch names/address; there is no explicit event-to-branch ID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Outlook publication can add its own delay. Auto-scrolling pauses on interaction, hover, focus, hidden documents and reduced-motion preferences. A page left open does not automatically refetch event data. No Graph calendar connection has been configured.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Node adapter caches successful lookups for five minutes and may reuse a prior success for up to roughly one hour after expiry. YouTube controls embed availability and browser autoplay policies. Harlow/Southend without channel details show a coming-soon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 CONTACT_MAIL_PROVIDER=microsoft365, MS_TENANT_ID, MS_CLIENT_ID, MS_CLIENT_SECRET and MS_MAIL_SENDER. Grant appropriately scoped app-only sending access. Graph 202 means accepted for processing, not proven inbox delivery. No real email delivery test has completed. Source: https://learn.microsoft.com/en-us/graph/api/user-sendmail?view=graph-rest-1.0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Configuration saves create previous-version JSON backups. Asset deletion can invalidate old backups because those backups do not contain deleted image bytes. Volume/provider backups are needed for complete recovery. Keep private recovery copies outside the active 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Also verify custom-domain HTTPS, sign-in/logout, form validation, actual email receipt and Reply-To, and backup restoration. Local checks do not verify remote DNS, Microsoft authorisation or delivery. Record the chosen repository branch and production variables owner.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Server logs should remain private; do not expose credentials. The package contains scripts/verify-package.mjs, verify-http.mjs and test-branch-page.mjs. Restart after changing environment variables. Review CONTACT-EMAIL.md for email errors.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Node admin is a single shared account. Agree named human owners and a weekly content review, plus a backup and restoration schedule. Repository changes and live content changes follow different update paths.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f30cfa25433474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d6d33e542e4c94" /><Relationship Type="http://schemas.openxmlformats.org/officeDocument/2006/relationships/slideLayout" Target="/ppt/slideLayouts/slideLayout1.xml" Id="Rd87fce1c5cc045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87fce1c5cc045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f83a5c42ba544ab" /><Relationship Type="http://schemas.openxmlformats.org/officeDocument/2006/relationships/notesSlide" Target="/ppt/notesSlides/notesSlide1.xml" Id="R6250064f3b7f49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7395c896bd147fe" /><Relationship Type="http://schemas.openxmlformats.org/officeDocument/2006/relationships/notesSlide" Target="/ppt/notesSlides/notesSlide2.xml" Id="Re5661e1ff7ed441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5db0f90fb024419" /><Relationship Type="http://schemas.openxmlformats.org/officeDocument/2006/relationships/notesSlide" Target="/ppt/notesSlides/notesSlide3.xml" Id="R4d8ff71c2e0445e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8e36a8461d04e7e" /><Relationship Type="http://schemas.openxmlformats.org/officeDocument/2006/relationships/notesSlide" Target="/ppt/notesSlides/notesSlide4.xml" Id="Rb28f96689a314dd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40784cf07b14f32" /><Relationship Type="http://schemas.openxmlformats.org/officeDocument/2006/relationships/notesSlide" Target="/ppt/notesSlides/notesSlide5.xml" Id="Rcef7da005f1f414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b252bf4ec1d44bb" /><Relationship Type="http://schemas.openxmlformats.org/officeDocument/2006/relationships/notesSlide" Target="/ppt/notesSlides/notesSlide6.xml" Id="R266007fa36f14be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60055c63e104946" /><Relationship Type="http://schemas.openxmlformats.org/officeDocument/2006/relationships/notesSlide" Target="/ppt/notesSlides/notesSlide7.xml" Id="R944bdc0282224d9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846cc58e02c437d" /><Relationship Type="http://schemas.openxmlformats.org/officeDocument/2006/relationships/notesSlide" Target="/ppt/notesSlides/notesSlide8.xml" Id="Rb2e14d02a11d4c2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0db7df947d64dec" /><Relationship Type="http://schemas.openxmlformats.org/officeDocument/2006/relationships/notesSlide" Target="/ppt/notesSlides/notesSlide9.xml" Id="Rd1ec500954e4459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49a90b4ebc04119" /><Relationship Type="http://schemas.openxmlformats.org/officeDocument/2006/relationships/notesSlide" Target="/ppt/notesSlides/notesSlide10.xml" Id="Rf998a5e1f19c499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9c98f556cac489a" /><Relationship Type="http://schemas.openxmlformats.org/officeDocument/2006/relationships/notesSlide" Target="/ppt/notesSlides/notesSlide11.xml" Id="Re201cca25a8846c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69d948622c14bfb" /><Relationship Type="http://schemas.openxmlformats.org/officeDocument/2006/relationships/notesSlide" Target="/ppt/notesSlides/notesSlide12.xml" Id="R1663d686b5e44c5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01511fe20f54eaa" /><Relationship Type="http://schemas.openxmlformats.org/officeDocument/2006/relationships/notesSlide" Target="/ppt/notesSlides/notesSlide13.xml" Id="R9971a4bb42fb4ef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72d20b09ac64056" /><Relationship Type="http://schemas.openxmlformats.org/officeDocument/2006/relationships/notesSlide" Target="/ppt/notesSlides/notesSlide14.xml" Id="R71696678d39d41c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cbc0e857d464a49" /><Relationship Type="http://schemas.openxmlformats.org/officeDocument/2006/relationships/notesSlide" Target="/ppt/notesSlides/notesSlide15.xml" Id="Rcb23dc15aa334bc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f55e1c9f8cd4552" /><Relationship Type="http://schemas.openxmlformats.org/officeDocument/2006/relationships/notesSlide" Target="/ppt/notesSlides/notesSlide16.xml" Id="R3540cfb2f3c1449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db61933ad4f4461" /><Relationship Type="http://schemas.openxmlformats.org/officeDocument/2006/relationships/notesSlide" Target="/ppt/notesSlides/notesSlide17.xml" Id="R1ba9c771d2e9432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7086dea16944de6" /><Relationship Type="http://schemas.openxmlformats.org/officeDocument/2006/relationships/notesSlide" Target="/ppt/notesSlides/notesSlide18.xml" Id="Ra588dde78f7b4c4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a884460cf7f4f66" /><Relationship Type="http://schemas.openxmlformats.org/officeDocument/2006/relationships/notesSlide" Target="/ppt/notesSlides/notesSlide19.xml" Id="Rbf03d55211b1433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94311b90b0e4cb1" /><Relationship Type="http://schemas.openxmlformats.org/officeDocument/2006/relationships/notesSlide" Target="/ppt/notesSlides/notesSlide20.xml" Id="Rad92416bb251489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5faaaf153034556" /><Relationship Type="http://schemas.openxmlformats.org/officeDocument/2006/relationships/notesSlide" Target="/ppt/notesSlides/notesSlide21.xml" Id="Rdb430b1ee3aa423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554f548f34d46a3" /><Relationship Type="http://schemas.openxmlformats.org/officeDocument/2006/relationships/notesSlide" Target="/ppt/notesSlides/notesSlide22.xml" Id="R5f93d9c03229499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3f0e8d3a29543e8" /><Relationship Type="http://schemas.openxmlformats.org/officeDocument/2006/relationships/notesSlide" Target="/ppt/notesSlides/notesSlide23.xml" Id="R4f6de3a033254ff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59bfb387f6c4483" /><Relationship Type="http://schemas.openxmlformats.org/officeDocument/2006/relationships/notesSlide" Target="/ppt/notesSlides/notesSlide24.xml" Id="R8dc33ad2711245e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878dd9978f04023" /><Relationship Type="http://schemas.openxmlformats.org/officeDocument/2006/relationships/notesSlide" Target="/ppt/notesSlides/notesSlide25.xml" Id="R2ad7ad704e044ec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407fb43fb14d49b5" /><Relationship Type="http://schemas.openxmlformats.org/officeDocument/2006/relationships/notesSlide" Target="/ppt/notesSlides/notesSlide26.xml" Id="Rc110ad81cb574de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6c3ba829f064b8c" /><Relationship Type="http://schemas.openxmlformats.org/officeDocument/2006/relationships/notesSlide" Target="/ppt/notesSlides/notesSlide27.xml" Id="R6d447a417a5b403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4637291681b4304" /><Relationship Type="http://schemas.openxmlformats.org/officeDocument/2006/relationships/notesSlide" Target="/ppt/notesSlides/notesSlide28.xml" Id="Read9b946d3a64f7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36871fe4106f4fa4" /><Relationship Type="http://schemas.openxmlformats.org/officeDocument/2006/relationships/notesSlide" Target="/ppt/notesSlides/notesSlide29.xml" Id="Rf0e04d0bb6bc4dcf" /></Relationships>
</file>

<file path=ppt/slides/slide1.xml><?xml version="1.0" encoding="utf-8"?>
<p:sld xmlns:p="http://schemas.openxmlformats.org/presentationml/2006/main">
  <p:cSld>
    <p:bg>
      <p:bgPr>
        <a:solidFill xmlns:a="http://schemas.openxmlformats.org/drawingml/2006/main">
          <a:srgbClr val="071B2E"/>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D9D4B3D-EBAA-494A-92D2-E3EC00423A50}"/>
              </a:ext>
            </a:extLst>
          </p:cNvPr>
          <p:cNvSpPr>
            <a:spLocks xmlns:a="http://schemas.openxmlformats.org/drawingml/2006/main" noGrp="1"/>
          </p:cNvSpPr>
          <p:nvPr/>
        </p:nvSpPr>
        <p:spPr>
          <a:xfrm xmlns:a="http://schemas.openxmlformats.org/drawingml/2006/main">
            <a:off x="666750" y="523875"/>
            <a:ext cx="1085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LPC website</a:t>
            </a:r>
          </a:p>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Publishing &amp; administration</a:t>
            </a:r>
          </a:p>
        </p:txBody>
      </p:sp>
      <p:sp>
        <p:nvSpPr>
          <p:cNvPr id="2" name="">
            <a:extLst xmlns:a="http://schemas.openxmlformats.org/drawingml/2006/main">
              <a:ext uri="{FF2B5EF4-FFF2-40B4-BE49-F238E27FC236}">
                <a16:creationId xmlns:a16="http://schemas.microsoft.com/office/drawing/2014/main" id="{3B28E12F-89FE-4B90-BCB9-634EF6AF246C}"/>
              </a:ext>
            </a:extLst>
          </p:cNvPr>
          <p:cNvSpPr>
            <a:spLocks xmlns:a="http://schemas.openxmlformats.org/drawingml/2006/main" noGrp="1"/>
          </p:cNvSpPr>
          <p:nvPr/>
        </p:nvSpPr>
        <p:spPr>
          <a:xfrm xmlns:a="http://schemas.openxmlformats.org/drawingml/2006/main">
            <a:off x="704850" y="2857500"/>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FC45B"/>
                </a:solidFill>
                <a:latin typeface="Arial"/>
                <a:ea typeface="Arial"/>
                <a:cs typeface="Arial"/>
              </a:defRPr>
            </a:pPr>
            <a:r>
              <a:rPr sz="2250" b="0">
                <a:solidFill>
                  <a:srgbClr val="EFC45B"/>
                </a:solidFill>
                <a:latin typeface="Arial"/>
                <a:ea typeface="Arial"/>
                <a:cs typeface="Arial"/>
              </a:rPr>
              <a:t>GitHub release and editor handbook</a:t>
            </a:r>
          </a:p>
          <a:p xmlns:a="http://schemas.openxmlformats.org/drawingml/2006/main">
            <a:pPr>
              <a:defRPr sz="2250" b="0">
                <a:solidFill>
                  <a:srgbClr val="EFC45B"/>
                </a:solidFill>
                <a:latin typeface="Arial"/>
                <a:ea typeface="Arial"/>
                <a:cs typeface="Arial"/>
              </a:defRPr>
            </a:pPr>
            <a:r>
              <a:rPr sz="2250" b="0">
                <a:solidFill>
                  <a:srgbClr val="EFC45B"/>
                </a:solidFill>
                <a:latin typeface="Arial"/>
                <a:ea typeface="Arial"/>
                <a:cs typeface="Arial"/>
              </a:rPr>
              <a:t>13 October 2026</a:t>
            </a:r>
          </a:p>
        </p:txBody>
      </p:sp>
      <p:sp>
        <p:nvSpPr>
          <p:cNvPr id="3" name="">
            <a:extLst xmlns:a="http://schemas.openxmlformats.org/drawingml/2006/main">
              <a:ext uri="{FF2B5EF4-FFF2-40B4-BE49-F238E27FC236}">
                <a16:creationId xmlns:a16="http://schemas.microsoft.com/office/drawing/2014/main" id="{2DF935D5-A40D-4642-B2F7-E482BABEFE8B}"/>
              </a:ext>
            </a:extLst>
          </p:cNvPr>
          <p:cNvSpPr>
            <a:spLocks xmlns:a="http://schemas.openxmlformats.org/drawingml/2006/main" noGrp="1"/>
          </p:cNvSpPr>
          <p:nvPr/>
        </p:nvSpPr>
        <p:spPr>
          <a:xfrm xmlns:a="http://schemas.openxmlformats.org/drawingml/2006/main">
            <a:off x="10572750" y="62865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EFC45B"/>
                </a:solidFill>
                <a:latin typeface="Arial"/>
                <a:ea typeface="Arial"/>
                <a:cs typeface="Arial"/>
              </a:defRPr>
            </a:pPr>
            <a:r>
              <a:rPr sz="1200" b="0">
                <a:solidFill>
                  <a:srgbClr val="EFC45B"/>
                </a:solidFill>
                <a:latin typeface="Arial"/>
                <a:ea typeface="Arial"/>
                <a:cs typeface="Arial"/>
              </a:rPr>
              <a:t>01 / 29</a:t>
            </a:r>
          </a:p>
        </p:txBody>
      </p:sp>
    </p:spTree>
    <p:extLst>
      <p:ext uri="{BB962C8B-B14F-4D97-AF65-F5344CB8AC3E}">
        <p14:creationId xmlns:p14="http://schemas.microsoft.com/office/powerpoint/2010/main" val="965728886"/>
      </p:ext>
    </p:extLst>
  </p:cSld>
</p:sld>
</file>

<file path=ppt/slides/slide2.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CAA9B48-2C61-462C-A4C0-62E7FEB58A58}"/>
              </a:ext>
            </a:extLst>
          </p:cNvPr>
          <p:cNvSpPr>
            <a:spLocks xmlns:a="http://schemas.openxmlformats.org/drawingml/2006/main" noGrp="1"/>
          </p:cNvSpPr>
          <p:nvPr/>
        </p:nvSpPr>
        <p:spPr>
          <a:xfrm xmlns:a="http://schemas.openxmlformats.org/drawingml/2006/main">
            <a:off x="666750" y="5238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539"/>
                </a:solidFill>
                <a:latin typeface="Arial"/>
                <a:ea typeface="Arial"/>
                <a:cs typeface="Arial"/>
              </a:defRPr>
            </a:pPr>
            <a:r>
              <a:rPr sz="3300" b="1">
                <a:solidFill>
                  <a:srgbClr val="102539"/>
                </a:solidFill>
                <a:latin typeface="Arial"/>
                <a:ea typeface="Arial"/>
                <a:cs typeface="Arial"/>
              </a:rPr>
              <a:t>Release contents</a:t>
            </a:r>
          </a:p>
        </p:txBody>
      </p:sp>
      <p:sp>
        <p:nvSpPr>
          <p:cNvPr id="2" name="">
            <a:extLst xmlns:a="http://schemas.openxmlformats.org/drawingml/2006/main">
              <a:ext uri="{FF2B5EF4-FFF2-40B4-BE49-F238E27FC236}">
                <a16:creationId xmlns:a16="http://schemas.microsoft.com/office/drawing/2014/main" id="{E4CB55DF-D38D-44FE-A420-D07AFA7C24DC}"/>
              </a:ext>
            </a:extLst>
          </p:cNvPr>
          <p:cNvSpPr>
            <a:spLocks xmlns:a="http://schemas.openxmlformats.org/drawingml/2006/main" noGrp="1"/>
          </p:cNvSpPr>
          <p:nvPr/>
        </p:nvSpPr>
        <p:spPr>
          <a:xfrm xmlns:a="http://schemas.openxmlformats.org/drawingml/2006/main">
            <a:off x="704850" y="1952625"/>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Website source, styles, images and homepage video</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Current JSON settings, uploaded assets and configuration backups</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Docker deployment files, dependency lockfile and verification scripts</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Detailed handbook and editable PowerPoint guide</a:t>
            </a:r>
          </a:p>
        </p:txBody>
      </p:sp>
      <p:sp>
        <p:nvSpPr>
          <p:cNvPr id="3" name="">
            <a:extLst xmlns:a="http://schemas.openxmlformats.org/drawingml/2006/main">
              <a:ext uri="{FF2B5EF4-FFF2-40B4-BE49-F238E27FC236}">
                <a16:creationId xmlns:a16="http://schemas.microsoft.com/office/drawing/2014/main" id="{43F6056D-0144-4166-920C-E67262F912C2}"/>
              </a:ext>
            </a:extLst>
          </p:cNvPr>
          <p:cNvSpPr>
            <a:spLocks xmlns:a="http://schemas.openxmlformats.org/drawingml/2006/main" noGrp="1"/>
          </p:cNvSpPr>
          <p:nvPr/>
        </p:nvSpPr>
        <p:spPr>
          <a:xfrm xmlns:a="http://schemas.openxmlformats.org/drawingml/2006/main">
            <a:off x="10572750" y="62865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7887"/>
                </a:solidFill>
                <a:latin typeface="Arial"/>
                <a:ea typeface="Arial"/>
                <a:cs typeface="Arial"/>
              </a:defRPr>
            </a:pPr>
            <a:r>
              <a:rPr sz="1200" b="0">
                <a:solidFill>
                  <a:srgbClr val="687887"/>
                </a:solidFill>
                <a:latin typeface="Arial"/>
                <a:ea typeface="Arial"/>
                <a:cs typeface="Arial"/>
              </a:rPr>
              <a:t>02 / 29</a:t>
            </a:r>
          </a:p>
        </p:txBody>
      </p:sp>
    </p:spTree>
    <p:extLst>
      <p:ext uri="{BB962C8B-B14F-4D97-AF65-F5344CB8AC3E}">
        <p14:creationId xmlns:p14="http://schemas.microsoft.com/office/powerpoint/2010/main" val="2104161517"/>
      </p:ext>
    </p:extLst>
  </p:cSld>
</p:sld>
</file>

<file path=ppt/slides/slide3.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8652CB1-FCE0-45B2-BF2B-6CE6C9D6C765}"/>
              </a:ext>
            </a:extLst>
          </p:cNvPr>
          <p:cNvSpPr>
            <a:spLocks xmlns:a="http://schemas.openxmlformats.org/drawingml/2006/main" noGrp="1"/>
          </p:cNvSpPr>
          <p:nvPr/>
        </p:nvSpPr>
        <p:spPr>
          <a:xfrm xmlns:a="http://schemas.openxmlformats.org/drawingml/2006/main">
            <a:off x="666750" y="5238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539"/>
                </a:solidFill>
                <a:latin typeface="Arial"/>
                <a:ea typeface="Arial"/>
                <a:cs typeface="Arial"/>
              </a:defRPr>
            </a:pPr>
            <a:r>
              <a:rPr sz="3300" b="1">
                <a:solidFill>
                  <a:srgbClr val="102539"/>
                </a:solidFill>
                <a:latin typeface="Arial"/>
                <a:ea typeface="Arial"/>
                <a:cs typeface="Arial"/>
              </a:rPr>
              <a:t>Website and hosting model</a:t>
            </a:r>
          </a:p>
        </p:txBody>
      </p:sp>
      <p:sp>
        <p:nvSpPr>
          <p:cNvPr id="2" name="">
            <a:extLst xmlns:a="http://schemas.openxmlformats.org/drawingml/2006/main">
              <a:ext uri="{FF2B5EF4-FFF2-40B4-BE49-F238E27FC236}">
                <a16:creationId xmlns:a16="http://schemas.microsoft.com/office/drawing/2014/main" id="{FB16573B-290F-44BA-A765-54F057D6C833}"/>
              </a:ext>
            </a:extLst>
          </p:cNvPr>
          <p:cNvSpPr>
            <a:spLocks xmlns:a="http://schemas.openxmlformats.org/drawingml/2006/main" noGrp="1"/>
          </p:cNvSpPr>
          <p:nvPr/>
        </p:nvSpPr>
        <p:spPr>
          <a:xfrm xmlns:a="http://schemas.openxmlformats.org/drawingml/2006/main">
            <a:off x="704850" y="1952625"/>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Visitors load the website and its hash-based page routes</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The Node server provides admin, calendar, media and contact endpoints</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A persistent data directory holds edited settings and uploads</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GitHub stores code; the hosting service runs it</a:t>
            </a:r>
          </a:p>
        </p:txBody>
      </p:sp>
      <p:sp>
        <p:nvSpPr>
          <p:cNvPr id="3" name="">
            <a:extLst xmlns:a="http://schemas.openxmlformats.org/drawingml/2006/main">
              <a:ext uri="{FF2B5EF4-FFF2-40B4-BE49-F238E27FC236}">
                <a16:creationId xmlns:a16="http://schemas.microsoft.com/office/drawing/2014/main" id="{0DDE12FC-8C5A-4F38-B5CC-2F693DC17C8D}"/>
              </a:ext>
            </a:extLst>
          </p:cNvPr>
          <p:cNvSpPr>
            <a:spLocks xmlns:a="http://schemas.openxmlformats.org/drawingml/2006/main" noGrp="1"/>
          </p:cNvSpPr>
          <p:nvPr/>
        </p:nvSpPr>
        <p:spPr>
          <a:xfrm xmlns:a="http://schemas.openxmlformats.org/drawingml/2006/main">
            <a:off x="10572750" y="62865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7887"/>
                </a:solidFill>
                <a:latin typeface="Arial"/>
                <a:ea typeface="Arial"/>
                <a:cs typeface="Arial"/>
              </a:defRPr>
            </a:pPr>
            <a:r>
              <a:rPr sz="1200" b="0">
                <a:solidFill>
                  <a:srgbClr val="687887"/>
                </a:solidFill>
                <a:latin typeface="Arial"/>
                <a:ea typeface="Arial"/>
                <a:cs typeface="Arial"/>
              </a:rPr>
              <a:t>03 / 29</a:t>
            </a:r>
          </a:p>
        </p:txBody>
      </p:sp>
    </p:spTree>
    <p:extLst>
      <p:ext uri="{BB962C8B-B14F-4D97-AF65-F5344CB8AC3E}">
        <p14:creationId xmlns:p14="http://schemas.microsoft.com/office/powerpoint/2010/main" val="865723374"/>
      </p:ext>
    </p:extLst>
  </p:cSld>
</p:sld>
</file>

<file path=ppt/slides/slide4.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B04DE62-FE6F-4011-BDE3-4F986BCCB5F6}"/>
              </a:ext>
            </a:extLst>
          </p:cNvPr>
          <p:cNvSpPr>
            <a:spLocks xmlns:a="http://schemas.openxmlformats.org/drawingml/2006/main" noGrp="1"/>
          </p:cNvSpPr>
          <p:nvPr/>
        </p:nvSpPr>
        <p:spPr>
          <a:xfrm xmlns:a="http://schemas.openxmlformats.org/drawingml/2006/main">
            <a:off x="666750" y="5238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539"/>
                </a:solidFill>
                <a:latin typeface="Arial"/>
                <a:ea typeface="Arial"/>
                <a:cs typeface="Arial"/>
              </a:defRPr>
            </a:pPr>
            <a:r>
              <a:rPr sz="3300" b="1">
                <a:solidFill>
                  <a:srgbClr val="102539"/>
                </a:solidFill>
                <a:latin typeface="Arial"/>
                <a:ea typeface="Arial"/>
                <a:cs typeface="Arial"/>
              </a:rPr>
              <a:t>Local evaluation</a:t>
            </a:r>
          </a:p>
        </p:txBody>
      </p:sp>
      <p:sp>
        <p:nvSpPr>
          <p:cNvPr id="2" name="">
            <a:extLst xmlns:a="http://schemas.openxmlformats.org/drawingml/2006/main">
              <a:ext uri="{FF2B5EF4-FFF2-40B4-BE49-F238E27FC236}">
                <a16:creationId xmlns:a16="http://schemas.microsoft.com/office/drawing/2014/main" id="{008E032D-7B40-4FC2-B8C1-97CB079D0E9B}"/>
              </a:ext>
            </a:extLst>
          </p:cNvPr>
          <p:cNvSpPr>
            <a:spLocks xmlns:a="http://schemas.openxmlformats.org/drawingml/2006/main" noGrp="1"/>
          </p:cNvSpPr>
          <p:nvPr/>
        </p:nvSpPr>
        <p:spPr>
          <a:xfrm xmlns:a="http://schemas.openxmlformats.org/drawingml/2006/main">
            <a:off x="704850" y="1952625"/>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Install Node.js 22 LTS and extract the ZIP</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Open a terminal in the extracted project folder</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Run npm ci, then npm start</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Open http://localhost:4173/#/home</a:t>
            </a:r>
          </a:p>
        </p:txBody>
      </p:sp>
      <p:sp>
        <p:nvSpPr>
          <p:cNvPr id="3" name="">
            <a:extLst xmlns:a="http://schemas.openxmlformats.org/drawingml/2006/main">
              <a:ext uri="{FF2B5EF4-FFF2-40B4-BE49-F238E27FC236}">
                <a16:creationId xmlns:a16="http://schemas.microsoft.com/office/drawing/2014/main" id="{B06EEDAC-F25E-47FD-A171-70FCD925758B}"/>
              </a:ext>
            </a:extLst>
          </p:cNvPr>
          <p:cNvSpPr>
            <a:spLocks xmlns:a="http://schemas.openxmlformats.org/drawingml/2006/main" noGrp="1"/>
          </p:cNvSpPr>
          <p:nvPr/>
        </p:nvSpPr>
        <p:spPr>
          <a:xfrm xmlns:a="http://schemas.openxmlformats.org/drawingml/2006/main">
            <a:off x="10572750" y="62865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7887"/>
                </a:solidFill>
                <a:latin typeface="Arial"/>
                <a:ea typeface="Arial"/>
                <a:cs typeface="Arial"/>
              </a:defRPr>
            </a:pPr>
            <a:r>
              <a:rPr sz="1200" b="0">
                <a:solidFill>
                  <a:srgbClr val="687887"/>
                </a:solidFill>
                <a:latin typeface="Arial"/>
                <a:ea typeface="Arial"/>
                <a:cs typeface="Arial"/>
              </a:rPr>
              <a:t>04 / 29</a:t>
            </a:r>
          </a:p>
        </p:txBody>
      </p:sp>
    </p:spTree>
    <p:extLst>
      <p:ext uri="{BB962C8B-B14F-4D97-AF65-F5344CB8AC3E}">
        <p14:creationId xmlns:p14="http://schemas.microsoft.com/office/powerpoint/2010/main" val="161468046"/>
      </p:ext>
    </p:extLst>
  </p:cSld>
</p:sld>
</file>

<file path=ppt/slides/slide5.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5482258-B42F-45CB-8C5B-8E54D7A24C1A}"/>
              </a:ext>
            </a:extLst>
          </p:cNvPr>
          <p:cNvSpPr>
            <a:spLocks xmlns:a="http://schemas.openxmlformats.org/drawingml/2006/main" noGrp="1"/>
          </p:cNvSpPr>
          <p:nvPr/>
        </p:nvSpPr>
        <p:spPr>
          <a:xfrm xmlns:a="http://schemas.openxmlformats.org/drawingml/2006/main">
            <a:off x="666750" y="5238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539"/>
                </a:solidFill>
                <a:latin typeface="Arial"/>
                <a:ea typeface="Arial"/>
                <a:cs typeface="Arial"/>
              </a:defRPr>
            </a:pPr>
            <a:r>
              <a:rPr sz="3300" b="1">
                <a:solidFill>
                  <a:srgbClr val="102539"/>
                </a:solidFill>
                <a:latin typeface="Arial"/>
                <a:ea typeface="Arial"/>
                <a:cs typeface="Arial"/>
              </a:rPr>
              <a:t>GitHub upload</a:t>
            </a:r>
          </a:p>
        </p:txBody>
      </p:sp>
      <p:sp>
        <p:nvSpPr>
          <p:cNvPr id="2" name="">
            <a:extLst xmlns:a="http://schemas.openxmlformats.org/drawingml/2006/main">
              <a:ext uri="{FF2B5EF4-FFF2-40B4-BE49-F238E27FC236}">
                <a16:creationId xmlns:a16="http://schemas.microsoft.com/office/drawing/2014/main" id="{D655AB87-FCBC-4C1E-B9C4-FC0FC81C2C1C}"/>
              </a:ext>
            </a:extLst>
          </p:cNvPr>
          <p:cNvSpPr>
            <a:spLocks xmlns:a="http://schemas.openxmlformats.org/drawingml/2006/main" noGrp="1"/>
          </p:cNvSpPr>
          <p:nvPr/>
        </p:nvSpPr>
        <p:spPr>
          <a:xfrm xmlns:a="http://schemas.openxmlformats.org/drawingml/2006/main">
            <a:off x="704850" y="1952625"/>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Create a private repository for this website</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Extract the ZIP; place its contents at the repository root</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Commit the source, assets, lockfile and documentation</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Keep secrets and node_modules outside Git</a:t>
            </a:r>
          </a:p>
        </p:txBody>
      </p:sp>
      <p:sp>
        <p:nvSpPr>
          <p:cNvPr id="3" name="">
            <a:extLst xmlns:a="http://schemas.openxmlformats.org/drawingml/2006/main">
              <a:ext uri="{FF2B5EF4-FFF2-40B4-BE49-F238E27FC236}">
                <a16:creationId xmlns:a16="http://schemas.microsoft.com/office/drawing/2014/main" id="{DF61D9FC-A1A1-44A8-B617-C0F9AFDE58A4}"/>
              </a:ext>
            </a:extLst>
          </p:cNvPr>
          <p:cNvSpPr>
            <a:spLocks xmlns:a="http://schemas.openxmlformats.org/drawingml/2006/main" noGrp="1"/>
          </p:cNvSpPr>
          <p:nvPr/>
        </p:nvSpPr>
        <p:spPr>
          <a:xfrm xmlns:a="http://schemas.openxmlformats.org/drawingml/2006/main">
            <a:off x="10572750" y="62865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7887"/>
                </a:solidFill>
                <a:latin typeface="Arial"/>
                <a:ea typeface="Arial"/>
                <a:cs typeface="Arial"/>
              </a:defRPr>
            </a:pPr>
            <a:r>
              <a:rPr sz="1200" b="0">
                <a:solidFill>
                  <a:srgbClr val="687887"/>
                </a:solidFill>
                <a:latin typeface="Arial"/>
                <a:ea typeface="Arial"/>
                <a:cs typeface="Arial"/>
              </a:rPr>
              <a:t>05 / 29</a:t>
            </a:r>
          </a:p>
        </p:txBody>
      </p:sp>
    </p:spTree>
    <p:extLst>
      <p:ext uri="{BB962C8B-B14F-4D97-AF65-F5344CB8AC3E}">
        <p14:creationId xmlns:p14="http://schemas.microsoft.com/office/powerpoint/2010/main" val="959209477"/>
      </p:ext>
    </p:extLst>
  </p:cSld>
</p:sld>
</file>

<file path=ppt/slides/slide6.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F01296D-6E20-40A1-977C-04D16EDB7C61}"/>
              </a:ext>
            </a:extLst>
          </p:cNvPr>
          <p:cNvSpPr>
            <a:spLocks xmlns:a="http://schemas.openxmlformats.org/drawingml/2006/main" noGrp="1"/>
          </p:cNvSpPr>
          <p:nvPr/>
        </p:nvSpPr>
        <p:spPr>
          <a:xfrm xmlns:a="http://schemas.openxmlformats.org/drawingml/2006/main">
            <a:off x="666750" y="5238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539"/>
                </a:solidFill>
                <a:latin typeface="Arial"/>
                <a:ea typeface="Arial"/>
                <a:cs typeface="Arial"/>
              </a:defRPr>
            </a:pPr>
            <a:r>
              <a:rPr sz="3300" b="1">
                <a:solidFill>
                  <a:srgbClr val="102539"/>
                </a:solidFill>
                <a:latin typeface="Arial"/>
                <a:ea typeface="Arial"/>
                <a:cs typeface="Arial"/>
              </a:rPr>
              <a:t>Railway deployment</a:t>
            </a:r>
          </a:p>
        </p:txBody>
      </p:sp>
      <p:sp>
        <p:nvSpPr>
          <p:cNvPr id="2" name="">
            <a:extLst xmlns:a="http://schemas.openxmlformats.org/drawingml/2006/main">
              <a:ext uri="{FF2B5EF4-FFF2-40B4-BE49-F238E27FC236}">
                <a16:creationId xmlns:a16="http://schemas.microsoft.com/office/drawing/2014/main" id="{F283769B-D117-4CF7-8167-323CC6795AD1}"/>
              </a:ext>
            </a:extLst>
          </p:cNvPr>
          <p:cNvSpPr>
            <a:spLocks xmlns:a="http://schemas.openxmlformats.org/drawingml/2006/main" noGrp="1"/>
          </p:cNvSpPr>
          <p:nvPr/>
        </p:nvSpPr>
        <p:spPr>
          <a:xfrm xmlns:a="http://schemas.openxmlformats.org/drawingml/2006/main">
            <a:off x="704850" y="1952625"/>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Connect the intended GitHub repository and branch</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The included Dockerfile starts the Node application</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Attach a persistent volume mounted at /data</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Set production variables before the first deployment</a:t>
            </a:r>
          </a:p>
        </p:txBody>
      </p:sp>
      <p:sp>
        <p:nvSpPr>
          <p:cNvPr id="3" name="">
            <a:extLst xmlns:a="http://schemas.openxmlformats.org/drawingml/2006/main">
              <a:ext uri="{FF2B5EF4-FFF2-40B4-BE49-F238E27FC236}">
                <a16:creationId xmlns:a16="http://schemas.microsoft.com/office/drawing/2014/main" id="{E06243FB-5E12-49C2-ADE2-61932F07E4A5}"/>
              </a:ext>
            </a:extLst>
          </p:cNvPr>
          <p:cNvSpPr>
            <a:spLocks xmlns:a="http://schemas.openxmlformats.org/drawingml/2006/main" noGrp="1"/>
          </p:cNvSpPr>
          <p:nvPr/>
        </p:nvSpPr>
        <p:spPr>
          <a:xfrm xmlns:a="http://schemas.openxmlformats.org/drawingml/2006/main">
            <a:off x="10572750" y="62865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7887"/>
                </a:solidFill>
                <a:latin typeface="Arial"/>
                <a:ea typeface="Arial"/>
                <a:cs typeface="Arial"/>
              </a:defRPr>
            </a:pPr>
            <a:r>
              <a:rPr sz="1200" b="0">
                <a:solidFill>
                  <a:srgbClr val="687887"/>
                </a:solidFill>
                <a:latin typeface="Arial"/>
                <a:ea typeface="Arial"/>
                <a:cs typeface="Arial"/>
              </a:rPr>
              <a:t>06 / 29</a:t>
            </a:r>
          </a:p>
        </p:txBody>
      </p:sp>
    </p:spTree>
    <p:extLst>
      <p:ext uri="{BB962C8B-B14F-4D97-AF65-F5344CB8AC3E}">
        <p14:creationId xmlns:p14="http://schemas.microsoft.com/office/powerpoint/2010/main" val="1921368963"/>
      </p:ext>
    </p:extLst>
  </p:cSld>
</p:sld>
</file>

<file path=ppt/slides/slide7.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E185838-8607-4844-B7D4-52CDC139889B}"/>
              </a:ext>
            </a:extLst>
          </p:cNvPr>
          <p:cNvSpPr>
            <a:spLocks xmlns:a="http://schemas.openxmlformats.org/drawingml/2006/main" noGrp="1"/>
          </p:cNvSpPr>
          <p:nvPr/>
        </p:nvSpPr>
        <p:spPr>
          <a:xfrm xmlns:a="http://schemas.openxmlformats.org/drawingml/2006/main">
            <a:off x="666750" y="5238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539"/>
                </a:solidFill>
                <a:latin typeface="Arial"/>
                <a:ea typeface="Arial"/>
                <a:cs typeface="Arial"/>
              </a:defRPr>
            </a:pPr>
            <a:r>
              <a:rPr sz="3300" b="1">
                <a:solidFill>
                  <a:srgbClr val="102539"/>
                </a:solidFill>
                <a:latin typeface="Arial"/>
                <a:ea typeface="Arial"/>
                <a:cs typeface="Arial"/>
              </a:rPr>
              <a:t>Production variables</a:t>
            </a:r>
          </a:p>
        </p:txBody>
      </p:sp>
      <p:sp>
        <p:nvSpPr>
          <p:cNvPr id="2" name="">
            <a:extLst xmlns:a="http://schemas.openxmlformats.org/drawingml/2006/main">
              <a:ext uri="{FF2B5EF4-FFF2-40B4-BE49-F238E27FC236}">
                <a16:creationId xmlns:a16="http://schemas.microsoft.com/office/drawing/2014/main" id="{E6501DFE-5508-492F-82DC-50C00922850B}"/>
              </a:ext>
            </a:extLst>
          </p:cNvPr>
          <p:cNvSpPr>
            <a:spLocks xmlns:a="http://schemas.openxmlformats.org/drawingml/2006/main" noGrp="1"/>
          </p:cNvSpPr>
          <p:nvPr/>
        </p:nvSpPr>
        <p:spPr>
          <a:xfrm xmlns:a="http://schemas.openxmlformats.org/drawingml/2006/main">
            <a:off x="704850" y="1952625"/>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DATA_DIR=/data and HOST=0.0.0.0</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LPC_ADMIN_USERNAME and LPC_ADMIN_PASSWORD</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LPC_ADMIN_SESSION_SECRET: a separate random secret</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PORT: use the port supplied by the host</a:t>
            </a:r>
          </a:p>
        </p:txBody>
      </p:sp>
      <p:sp>
        <p:nvSpPr>
          <p:cNvPr id="3" name="">
            <a:extLst xmlns:a="http://schemas.openxmlformats.org/drawingml/2006/main">
              <a:ext uri="{FF2B5EF4-FFF2-40B4-BE49-F238E27FC236}">
                <a16:creationId xmlns:a16="http://schemas.microsoft.com/office/drawing/2014/main" id="{E1636EFA-827A-44E6-9BC4-794AF3DA10C6}"/>
              </a:ext>
            </a:extLst>
          </p:cNvPr>
          <p:cNvSpPr>
            <a:spLocks xmlns:a="http://schemas.openxmlformats.org/drawingml/2006/main" noGrp="1"/>
          </p:cNvSpPr>
          <p:nvPr/>
        </p:nvSpPr>
        <p:spPr>
          <a:xfrm xmlns:a="http://schemas.openxmlformats.org/drawingml/2006/main">
            <a:off x="10572750" y="62865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7887"/>
                </a:solidFill>
                <a:latin typeface="Arial"/>
                <a:ea typeface="Arial"/>
                <a:cs typeface="Arial"/>
              </a:defRPr>
            </a:pPr>
            <a:r>
              <a:rPr sz="1200" b="0">
                <a:solidFill>
                  <a:srgbClr val="687887"/>
                </a:solidFill>
                <a:latin typeface="Arial"/>
                <a:ea typeface="Arial"/>
                <a:cs typeface="Arial"/>
              </a:rPr>
              <a:t>07 / 29</a:t>
            </a:r>
          </a:p>
        </p:txBody>
      </p:sp>
    </p:spTree>
    <p:extLst>
      <p:ext uri="{BB962C8B-B14F-4D97-AF65-F5344CB8AC3E}">
        <p14:creationId xmlns:p14="http://schemas.microsoft.com/office/powerpoint/2010/main" val="62712208"/>
      </p:ext>
    </p:extLst>
  </p:cSld>
</p:sld>
</file>

<file path=ppt/slides/slide8.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A01490B-0340-495F-871A-EAB0268093AC}"/>
              </a:ext>
            </a:extLst>
          </p:cNvPr>
          <p:cNvSpPr>
            <a:spLocks xmlns:a="http://schemas.openxmlformats.org/drawingml/2006/main" noGrp="1"/>
          </p:cNvSpPr>
          <p:nvPr/>
        </p:nvSpPr>
        <p:spPr>
          <a:xfrm xmlns:a="http://schemas.openxmlformats.org/drawingml/2006/main">
            <a:off x="666750" y="5238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539"/>
                </a:solidFill>
                <a:latin typeface="Arial"/>
                <a:ea typeface="Arial"/>
                <a:cs typeface="Arial"/>
              </a:defRPr>
            </a:pPr>
            <a:r>
              <a:rPr sz="3300" b="1">
                <a:solidFill>
                  <a:srgbClr val="102539"/>
                </a:solidFill>
                <a:latin typeface="Arial"/>
                <a:ea typeface="Arial"/>
                <a:cs typeface="Arial"/>
              </a:rPr>
              <a:t>Domain and HTTPS</a:t>
            </a:r>
          </a:p>
        </p:txBody>
      </p:sp>
      <p:sp>
        <p:nvSpPr>
          <p:cNvPr id="2" name="">
            <a:extLst xmlns:a="http://schemas.openxmlformats.org/drawingml/2006/main">
              <a:ext uri="{FF2B5EF4-FFF2-40B4-BE49-F238E27FC236}">
                <a16:creationId xmlns:a16="http://schemas.microsoft.com/office/drawing/2014/main" id="{104F5A28-29A4-45ED-979C-9D3A0203F9F5}"/>
              </a:ext>
            </a:extLst>
          </p:cNvPr>
          <p:cNvSpPr>
            <a:spLocks xmlns:a="http://schemas.openxmlformats.org/drawingml/2006/main" noGrp="1"/>
          </p:cNvSpPr>
          <p:nvPr/>
        </p:nvSpPr>
        <p:spPr>
          <a:xfrm xmlns:a="http://schemas.openxmlformats.org/drawingml/2006/main">
            <a:off x="704850" y="1952625"/>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Generate a temporary public domain for testing</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Check the website and admin before changing church DNS</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Add the custom domain in hosting Networking settings</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Apply the displayed DNS records and verify HTTPS</a:t>
            </a:r>
          </a:p>
        </p:txBody>
      </p:sp>
      <p:sp>
        <p:nvSpPr>
          <p:cNvPr id="3" name="">
            <a:extLst xmlns:a="http://schemas.openxmlformats.org/drawingml/2006/main">
              <a:ext uri="{FF2B5EF4-FFF2-40B4-BE49-F238E27FC236}">
                <a16:creationId xmlns:a16="http://schemas.microsoft.com/office/drawing/2014/main" id="{F271D474-2DD7-49B5-AB0E-7262475BF1F2}"/>
              </a:ext>
            </a:extLst>
          </p:cNvPr>
          <p:cNvSpPr>
            <a:spLocks xmlns:a="http://schemas.openxmlformats.org/drawingml/2006/main" noGrp="1"/>
          </p:cNvSpPr>
          <p:nvPr/>
        </p:nvSpPr>
        <p:spPr>
          <a:xfrm xmlns:a="http://schemas.openxmlformats.org/drawingml/2006/main">
            <a:off x="10572750" y="62865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7887"/>
                </a:solidFill>
                <a:latin typeface="Arial"/>
                <a:ea typeface="Arial"/>
                <a:cs typeface="Arial"/>
              </a:defRPr>
            </a:pPr>
            <a:r>
              <a:rPr sz="1200" b="0">
                <a:solidFill>
                  <a:srgbClr val="687887"/>
                </a:solidFill>
                <a:latin typeface="Arial"/>
                <a:ea typeface="Arial"/>
                <a:cs typeface="Arial"/>
              </a:rPr>
              <a:t>08 / 29</a:t>
            </a:r>
          </a:p>
        </p:txBody>
      </p:sp>
    </p:spTree>
    <p:extLst>
      <p:ext uri="{BB962C8B-B14F-4D97-AF65-F5344CB8AC3E}">
        <p14:creationId xmlns:p14="http://schemas.microsoft.com/office/powerpoint/2010/main" val="1755477810"/>
      </p:ext>
    </p:extLst>
  </p:cSld>
</p:sld>
</file>

<file path=ppt/slides/slide9.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E35EAB1-5A2F-4B74-B3EC-65ABF09E799F}"/>
              </a:ext>
            </a:extLst>
          </p:cNvPr>
          <p:cNvSpPr>
            <a:spLocks xmlns:a="http://schemas.openxmlformats.org/drawingml/2006/main" noGrp="1"/>
          </p:cNvSpPr>
          <p:nvPr/>
        </p:nvSpPr>
        <p:spPr>
          <a:xfrm xmlns:a="http://schemas.openxmlformats.org/drawingml/2006/main">
            <a:off x="666750" y="5238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539"/>
                </a:solidFill>
                <a:latin typeface="Arial"/>
                <a:ea typeface="Arial"/>
                <a:cs typeface="Arial"/>
              </a:defRPr>
            </a:pPr>
            <a:r>
              <a:rPr sz="3300" b="1">
                <a:solidFill>
                  <a:srgbClr val="102539"/>
                </a:solidFill>
                <a:latin typeface="Arial"/>
                <a:ea typeface="Arial"/>
                <a:cs typeface="Arial"/>
              </a:rPr>
              <a:t>Persistent data</a:t>
            </a:r>
          </a:p>
        </p:txBody>
      </p:sp>
      <p:sp>
        <p:nvSpPr>
          <p:cNvPr id="2" name="">
            <a:extLst xmlns:a="http://schemas.openxmlformats.org/drawingml/2006/main">
              <a:ext uri="{FF2B5EF4-FFF2-40B4-BE49-F238E27FC236}">
                <a16:creationId xmlns:a16="http://schemas.microsoft.com/office/drawing/2014/main" id="{D80EC5CB-DC7C-47CB-A939-AC3E069A2CDA}"/>
              </a:ext>
            </a:extLst>
          </p:cNvPr>
          <p:cNvSpPr>
            <a:spLocks xmlns:a="http://schemas.openxmlformats.org/drawingml/2006/main" noGrp="1"/>
          </p:cNvSpPr>
          <p:nvPr/>
        </p:nvSpPr>
        <p:spPr>
          <a:xfrm xmlns:a="http://schemas.openxmlformats.org/drawingml/2006/main">
            <a:off x="704850" y="1952625"/>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DATA_DIR contains JSON settings and uploaded files</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assets/images and assets/videos remain bundled site assets</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The production startup seeds missing files only</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A redeploy must retain the mounted volume</a:t>
            </a:r>
          </a:p>
        </p:txBody>
      </p:sp>
      <p:sp>
        <p:nvSpPr>
          <p:cNvPr id="3" name="">
            <a:extLst xmlns:a="http://schemas.openxmlformats.org/drawingml/2006/main">
              <a:ext uri="{FF2B5EF4-FFF2-40B4-BE49-F238E27FC236}">
                <a16:creationId xmlns:a16="http://schemas.microsoft.com/office/drawing/2014/main" id="{73525F59-390B-4266-8D2E-D56A501D81AA}"/>
              </a:ext>
            </a:extLst>
          </p:cNvPr>
          <p:cNvSpPr>
            <a:spLocks xmlns:a="http://schemas.openxmlformats.org/drawingml/2006/main" noGrp="1"/>
          </p:cNvSpPr>
          <p:nvPr/>
        </p:nvSpPr>
        <p:spPr>
          <a:xfrm xmlns:a="http://schemas.openxmlformats.org/drawingml/2006/main">
            <a:off x="10572750" y="62865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7887"/>
                </a:solidFill>
                <a:latin typeface="Arial"/>
                <a:ea typeface="Arial"/>
                <a:cs typeface="Arial"/>
              </a:defRPr>
            </a:pPr>
            <a:r>
              <a:rPr sz="1200" b="0">
                <a:solidFill>
                  <a:srgbClr val="687887"/>
                </a:solidFill>
                <a:latin typeface="Arial"/>
                <a:ea typeface="Arial"/>
                <a:cs typeface="Arial"/>
              </a:rPr>
              <a:t>09 / 29</a:t>
            </a:r>
          </a:p>
        </p:txBody>
      </p:sp>
    </p:spTree>
    <p:extLst>
      <p:ext uri="{BB962C8B-B14F-4D97-AF65-F5344CB8AC3E}">
        <p14:creationId xmlns:p14="http://schemas.microsoft.com/office/powerpoint/2010/main" val="2139890216"/>
      </p:ext>
    </p:extLst>
  </p:cSld>
</p:sld>
</file>

<file path=ppt/slides/slide10.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88293EB-810E-40E4-AA3D-0BE749B6DF4F}"/>
              </a:ext>
            </a:extLst>
          </p:cNvPr>
          <p:cNvSpPr>
            <a:spLocks xmlns:a="http://schemas.openxmlformats.org/drawingml/2006/main" noGrp="1"/>
          </p:cNvSpPr>
          <p:nvPr/>
        </p:nvSpPr>
        <p:spPr>
          <a:xfrm xmlns:a="http://schemas.openxmlformats.org/drawingml/2006/main">
            <a:off x="666750" y="5238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539"/>
                </a:solidFill>
                <a:latin typeface="Arial"/>
                <a:ea typeface="Arial"/>
                <a:cs typeface="Arial"/>
              </a:defRPr>
            </a:pPr>
            <a:r>
              <a:rPr sz="3300" b="1">
                <a:solidFill>
                  <a:srgbClr val="102539"/>
                </a:solidFill>
                <a:latin typeface="Arial"/>
                <a:ea typeface="Arial"/>
                <a:cs typeface="Arial"/>
              </a:rPr>
              <a:t>Admin sign-in</a:t>
            </a:r>
          </a:p>
        </p:txBody>
      </p:sp>
      <p:sp>
        <p:nvSpPr>
          <p:cNvPr id="2" name="">
            <a:extLst xmlns:a="http://schemas.openxmlformats.org/drawingml/2006/main">
              <a:ext uri="{FF2B5EF4-FFF2-40B4-BE49-F238E27FC236}">
                <a16:creationId xmlns:a16="http://schemas.microsoft.com/office/drawing/2014/main" id="{36F4AD4D-A2E2-464A-8469-56BEDEDA35BA}"/>
              </a:ext>
            </a:extLst>
          </p:cNvPr>
          <p:cNvSpPr>
            <a:spLocks xmlns:a="http://schemas.openxmlformats.org/drawingml/2006/main" noGrp="1"/>
          </p:cNvSpPr>
          <p:nvPr/>
        </p:nvSpPr>
        <p:spPr>
          <a:xfrm xmlns:a="http://schemas.openxmlformats.org/drawingml/2006/main">
            <a:off x="704850" y="1952625"/>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Open /#/lpcadmin on the deployed domain</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Use the username and password set by the hosting administrator</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The server verifies credentials and sets an HttpOnly cookie</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The session cookie lasts up to eight hours; Logout ends the session</a:t>
            </a:r>
          </a:p>
        </p:txBody>
      </p:sp>
      <p:sp>
        <p:nvSpPr>
          <p:cNvPr id="3" name="">
            <a:extLst xmlns:a="http://schemas.openxmlformats.org/drawingml/2006/main">
              <a:ext uri="{FF2B5EF4-FFF2-40B4-BE49-F238E27FC236}">
                <a16:creationId xmlns:a16="http://schemas.microsoft.com/office/drawing/2014/main" id="{C3F1F174-9A88-4DFC-9F73-C6B12B79815F}"/>
              </a:ext>
            </a:extLst>
          </p:cNvPr>
          <p:cNvSpPr>
            <a:spLocks xmlns:a="http://schemas.openxmlformats.org/drawingml/2006/main" noGrp="1"/>
          </p:cNvSpPr>
          <p:nvPr/>
        </p:nvSpPr>
        <p:spPr>
          <a:xfrm xmlns:a="http://schemas.openxmlformats.org/drawingml/2006/main">
            <a:off x="10572750" y="62865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7887"/>
                </a:solidFill>
                <a:latin typeface="Arial"/>
                <a:ea typeface="Arial"/>
                <a:cs typeface="Arial"/>
              </a:defRPr>
            </a:pPr>
            <a:r>
              <a:rPr sz="1200" b="0">
                <a:solidFill>
                  <a:srgbClr val="687887"/>
                </a:solidFill>
                <a:latin typeface="Arial"/>
                <a:ea typeface="Arial"/>
                <a:cs typeface="Arial"/>
              </a:rPr>
              <a:t>10 / 29</a:t>
            </a:r>
          </a:p>
        </p:txBody>
      </p:sp>
    </p:spTree>
    <p:extLst>
      <p:ext uri="{BB962C8B-B14F-4D97-AF65-F5344CB8AC3E}">
        <p14:creationId xmlns:p14="http://schemas.microsoft.com/office/powerpoint/2010/main" val="1963561667"/>
      </p:ext>
    </p:extLst>
  </p:cSld>
</p:sld>
</file>

<file path=ppt/slides/slide11.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DA67CBA-8486-489E-8F79-C47EA3ED63F2}"/>
              </a:ext>
            </a:extLst>
          </p:cNvPr>
          <p:cNvSpPr>
            <a:spLocks xmlns:a="http://schemas.openxmlformats.org/drawingml/2006/main" noGrp="1"/>
          </p:cNvSpPr>
          <p:nvPr/>
        </p:nvSpPr>
        <p:spPr>
          <a:xfrm xmlns:a="http://schemas.openxmlformats.org/drawingml/2006/main">
            <a:off x="666750" y="5238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539"/>
                </a:solidFill>
                <a:latin typeface="Arial"/>
                <a:ea typeface="Arial"/>
                <a:cs typeface="Arial"/>
              </a:defRPr>
            </a:pPr>
            <a:r>
              <a:rPr sz="3300" b="1">
                <a:solidFill>
                  <a:srgbClr val="102539"/>
                </a:solidFill>
                <a:latin typeface="Arial"/>
                <a:ea typeface="Arial"/>
                <a:cs typeface="Arial"/>
              </a:rPr>
              <a:t>Admin options</a:t>
            </a:r>
          </a:p>
        </p:txBody>
      </p:sp>
      <p:sp>
        <p:nvSpPr>
          <p:cNvPr id="2" name="">
            <a:extLst xmlns:a="http://schemas.openxmlformats.org/drawingml/2006/main">
              <a:ext uri="{FF2B5EF4-FFF2-40B4-BE49-F238E27FC236}">
                <a16:creationId xmlns:a16="http://schemas.microsoft.com/office/drawing/2014/main" id="{6987616B-84FB-4EF4-8930-EDC5C0C09673}"/>
              </a:ext>
            </a:extLst>
          </p:cNvPr>
          <p:cNvSpPr>
            <a:spLocks xmlns:a="http://schemas.openxmlformats.org/drawingml/2006/main" noGrp="1"/>
          </p:cNvSpPr>
          <p:nvPr/>
        </p:nvSpPr>
        <p:spPr>
          <a:xfrm xmlns:a="http://schemas.openxmlformats.org/drawingml/2006/main">
            <a:off x="704850" y="1952625"/>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Manage branches and associate pastors</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Manage asset images and image framing</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Page images and hero image/video editors</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Pastor’s Thought and the site header message</a:t>
            </a:r>
          </a:p>
        </p:txBody>
      </p:sp>
      <p:sp>
        <p:nvSpPr>
          <p:cNvPr id="3" name="">
            <a:extLst xmlns:a="http://schemas.openxmlformats.org/drawingml/2006/main">
              <a:ext uri="{FF2B5EF4-FFF2-40B4-BE49-F238E27FC236}">
                <a16:creationId xmlns:a16="http://schemas.microsoft.com/office/drawing/2014/main" id="{F0F2E304-0CBD-4B83-B5F8-FB25A45E7358}"/>
              </a:ext>
            </a:extLst>
          </p:cNvPr>
          <p:cNvSpPr>
            <a:spLocks xmlns:a="http://schemas.openxmlformats.org/drawingml/2006/main" noGrp="1"/>
          </p:cNvSpPr>
          <p:nvPr/>
        </p:nvSpPr>
        <p:spPr>
          <a:xfrm xmlns:a="http://schemas.openxmlformats.org/drawingml/2006/main">
            <a:off x="10572750" y="62865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7887"/>
                </a:solidFill>
                <a:latin typeface="Arial"/>
                <a:ea typeface="Arial"/>
                <a:cs typeface="Arial"/>
              </a:defRPr>
            </a:pPr>
            <a:r>
              <a:rPr sz="1200" b="0">
                <a:solidFill>
                  <a:srgbClr val="687887"/>
                </a:solidFill>
                <a:latin typeface="Arial"/>
                <a:ea typeface="Arial"/>
                <a:cs typeface="Arial"/>
              </a:rPr>
              <a:t>11 / 29</a:t>
            </a:r>
          </a:p>
        </p:txBody>
      </p:sp>
    </p:spTree>
    <p:extLst>
      <p:ext uri="{BB962C8B-B14F-4D97-AF65-F5344CB8AC3E}">
        <p14:creationId xmlns:p14="http://schemas.microsoft.com/office/powerpoint/2010/main" val="85241375"/>
      </p:ext>
    </p:extLst>
  </p:cSld>
</p:sld>
</file>

<file path=ppt/slides/slide12.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0C1521C-F6E3-4486-882E-AE343F0671B5}"/>
              </a:ext>
            </a:extLst>
          </p:cNvPr>
          <p:cNvSpPr>
            <a:spLocks xmlns:a="http://schemas.openxmlformats.org/drawingml/2006/main" noGrp="1"/>
          </p:cNvSpPr>
          <p:nvPr/>
        </p:nvSpPr>
        <p:spPr>
          <a:xfrm xmlns:a="http://schemas.openxmlformats.org/drawingml/2006/main">
            <a:off x="666750" y="5238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539"/>
                </a:solidFill>
                <a:latin typeface="Arial"/>
                <a:ea typeface="Arial"/>
                <a:cs typeface="Arial"/>
              </a:defRPr>
            </a:pPr>
            <a:r>
              <a:rPr sz="3300" b="1">
                <a:solidFill>
                  <a:srgbClr val="102539"/>
                </a:solidFill>
                <a:latin typeface="Arial"/>
                <a:ea typeface="Arial"/>
                <a:cs typeface="Arial"/>
              </a:rPr>
              <a:t>Branch editor</a:t>
            </a:r>
          </a:p>
        </p:txBody>
      </p:sp>
      <p:sp>
        <p:nvSpPr>
          <p:cNvPr id="2" name="">
            <a:extLst xmlns:a="http://schemas.openxmlformats.org/drawingml/2006/main">
              <a:ext uri="{FF2B5EF4-FFF2-40B4-BE49-F238E27FC236}">
                <a16:creationId xmlns:a16="http://schemas.microsoft.com/office/drawing/2014/main" id="{A5B54718-BF10-4BD6-96DF-4557B7D28DB2}"/>
              </a:ext>
            </a:extLst>
          </p:cNvPr>
          <p:cNvSpPr>
            <a:spLocks xmlns:a="http://schemas.openxmlformats.org/drawingml/2006/main" noGrp="1"/>
          </p:cNvSpPr>
          <p:nvPr/>
        </p:nvSpPr>
        <p:spPr>
          <a:xfrm xmlns:a="http://schemas.openxmlformats.org/drawingml/2006/main">
            <a:off x="704850" y="1952625"/>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Expand a branch card to edit its fields</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Maintain its name, colour, logo, photo and visitor details</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Add YouTube and social links; choose playback behaviour</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Save branches to publish all changes</a:t>
            </a:r>
          </a:p>
        </p:txBody>
      </p:sp>
      <p:sp>
        <p:nvSpPr>
          <p:cNvPr id="3" name="">
            <a:extLst xmlns:a="http://schemas.openxmlformats.org/drawingml/2006/main">
              <a:ext uri="{FF2B5EF4-FFF2-40B4-BE49-F238E27FC236}">
                <a16:creationId xmlns:a16="http://schemas.microsoft.com/office/drawing/2014/main" id="{A52C49E2-17D3-44DC-BCD5-A7AF79030C9C}"/>
              </a:ext>
            </a:extLst>
          </p:cNvPr>
          <p:cNvSpPr>
            <a:spLocks xmlns:a="http://schemas.openxmlformats.org/drawingml/2006/main" noGrp="1"/>
          </p:cNvSpPr>
          <p:nvPr/>
        </p:nvSpPr>
        <p:spPr>
          <a:xfrm xmlns:a="http://schemas.openxmlformats.org/drawingml/2006/main">
            <a:off x="10572750" y="62865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7887"/>
                </a:solidFill>
                <a:latin typeface="Arial"/>
                <a:ea typeface="Arial"/>
                <a:cs typeface="Arial"/>
              </a:defRPr>
            </a:pPr>
            <a:r>
              <a:rPr sz="1200" b="0">
                <a:solidFill>
                  <a:srgbClr val="687887"/>
                </a:solidFill>
                <a:latin typeface="Arial"/>
                <a:ea typeface="Arial"/>
                <a:cs typeface="Arial"/>
              </a:rPr>
              <a:t>12 / 29</a:t>
            </a:r>
          </a:p>
        </p:txBody>
      </p:sp>
    </p:spTree>
    <p:extLst>
      <p:ext uri="{BB962C8B-B14F-4D97-AF65-F5344CB8AC3E}">
        <p14:creationId xmlns:p14="http://schemas.microsoft.com/office/powerpoint/2010/main" val="323457990"/>
      </p:ext>
    </p:extLst>
  </p:cSld>
</p:sld>
</file>

<file path=ppt/slides/slide13.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45D0FFC-3FCA-446C-A632-0A004D9A70BF}"/>
              </a:ext>
            </a:extLst>
          </p:cNvPr>
          <p:cNvSpPr>
            <a:spLocks xmlns:a="http://schemas.openxmlformats.org/drawingml/2006/main" noGrp="1"/>
          </p:cNvSpPr>
          <p:nvPr/>
        </p:nvSpPr>
        <p:spPr>
          <a:xfrm xmlns:a="http://schemas.openxmlformats.org/drawingml/2006/main">
            <a:off x="666750" y="5238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539"/>
                </a:solidFill>
                <a:latin typeface="Arial"/>
                <a:ea typeface="Arial"/>
                <a:cs typeface="Arial"/>
              </a:defRPr>
            </a:pPr>
            <a:r>
              <a:rPr sz="3300" b="1">
                <a:solidFill>
                  <a:srgbClr val="102539"/>
                </a:solidFill>
                <a:latin typeface="Arial"/>
                <a:ea typeface="Arial"/>
                <a:cs typeface="Arial"/>
              </a:rPr>
              <a:t>Adding and removing branches</a:t>
            </a:r>
          </a:p>
        </p:txBody>
      </p:sp>
      <p:sp>
        <p:nvSpPr>
          <p:cNvPr id="2" name="">
            <a:extLst xmlns:a="http://schemas.openxmlformats.org/drawingml/2006/main">
              <a:ext uri="{FF2B5EF4-FFF2-40B4-BE49-F238E27FC236}">
                <a16:creationId xmlns:a16="http://schemas.microsoft.com/office/drawing/2014/main" id="{D3D66CD6-10E7-42A2-B1BC-21141F2E1000}"/>
              </a:ext>
            </a:extLst>
          </p:cNvPr>
          <p:cNvSpPr>
            <a:spLocks xmlns:a="http://schemas.openxmlformats.org/drawingml/2006/main" noGrp="1"/>
          </p:cNvSpPr>
          <p:nvPr/>
        </p:nvSpPr>
        <p:spPr>
          <a:xfrm xmlns:a="http://schemas.openxmlformats.org/drawingml/2006/main">
            <a:off x="704850" y="1952625"/>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Add branch opens a new editable card</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A saved branch creates its card and themed landing route</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Its hero tile appears in the admin preview area</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Removing and saving removes its public branch and admin hero tile</a:t>
            </a:r>
          </a:p>
        </p:txBody>
      </p:sp>
      <p:sp>
        <p:nvSpPr>
          <p:cNvPr id="3" name="">
            <a:extLst xmlns:a="http://schemas.openxmlformats.org/drawingml/2006/main">
              <a:ext uri="{FF2B5EF4-FFF2-40B4-BE49-F238E27FC236}">
                <a16:creationId xmlns:a16="http://schemas.microsoft.com/office/drawing/2014/main" id="{5665E716-5677-4932-BEEF-170DAECAE3B7}"/>
              </a:ext>
            </a:extLst>
          </p:cNvPr>
          <p:cNvSpPr>
            <a:spLocks xmlns:a="http://schemas.openxmlformats.org/drawingml/2006/main" noGrp="1"/>
          </p:cNvSpPr>
          <p:nvPr/>
        </p:nvSpPr>
        <p:spPr>
          <a:xfrm xmlns:a="http://schemas.openxmlformats.org/drawingml/2006/main">
            <a:off x="10572750" y="62865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7887"/>
                </a:solidFill>
                <a:latin typeface="Arial"/>
                <a:ea typeface="Arial"/>
                <a:cs typeface="Arial"/>
              </a:defRPr>
            </a:pPr>
            <a:r>
              <a:rPr sz="1200" b="0">
                <a:solidFill>
                  <a:srgbClr val="687887"/>
                </a:solidFill>
                <a:latin typeface="Arial"/>
                <a:ea typeface="Arial"/>
                <a:cs typeface="Arial"/>
              </a:rPr>
              <a:t>13 / 29</a:t>
            </a:r>
          </a:p>
        </p:txBody>
      </p:sp>
    </p:spTree>
    <p:extLst>
      <p:ext uri="{BB962C8B-B14F-4D97-AF65-F5344CB8AC3E}">
        <p14:creationId xmlns:p14="http://schemas.microsoft.com/office/powerpoint/2010/main" val="335656196"/>
      </p:ext>
    </p:extLst>
  </p:cSld>
</p:sld>
</file>

<file path=ppt/slides/slide14.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D727F10-106A-439E-B425-F56EC2E33E5B}"/>
              </a:ext>
            </a:extLst>
          </p:cNvPr>
          <p:cNvSpPr>
            <a:spLocks xmlns:a="http://schemas.openxmlformats.org/drawingml/2006/main" noGrp="1"/>
          </p:cNvSpPr>
          <p:nvPr/>
        </p:nvSpPr>
        <p:spPr>
          <a:xfrm xmlns:a="http://schemas.openxmlformats.org/drawingml/2006/main">
            <a:off x="666750" y="5238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539"/>
                </a:solidFill>
                <a:latin typeface="Arial"/>
                <a:ea typeface="Arial"/>
                <a:cs typeface="Arial"/>
              </a:defRPr>
            </a:pPr>
            <a:r>
              <a:rPr sz="3300" b="1">
                <a:solidFill>
                  <a:srgbClr val="102539"/>
                </a:solidFill>
                <a:latin typeface="Arial"/>
                <a:ea typeface="Arial"/>
                <a:cs typeface="Arial"/>
              </a:rPr>
              <a:t>Branch photos and hero images</a:t>
            </a:r>
          </a:p>
        </p:txBody>
      </p:sp>
      <p:sp>
        <p:nvSpPr>
          <p:cNvPr id="2" name="">
            <a:extLst xmlns:a="http://schemas.openxmlformats.org/drawingml/2006/main">
              <a:ext uri="{FF2B5EF4-FFF2-40B4-BE49-F238E27FC236}">
                <a16:creationId xmlns:a16="http://schemas.microsoft.com/office/drawing/2014/main" id="{4052B4FD-E1F6-43A6-90B0-8008D3355968}"/>
              </a:ext>
            </a:extLst>
          </p:cNvPr>
          <p:cNvSpPr>
            <a:spLocks xmlns:a="http://schemas.openxmlformats.org/drawingml/2006/main" noGrp="1"/>
          </p:cNvSpPr>
          <p:nvPr/>
        </p:nvSpPr>
        <p:spPr>
          <a:xfrm xmlns:a="http://schemas.openxmlformats.org/drawingml/2006/main">
            <a:off x="704850" y="1952625"/>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Branch photo provides the default image</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The branch hero editor can override the landing-page image</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Home and Branches cards use the saved hero image first</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A new upload appears only after selection and Save</a:t>
            </a:r>
          </a:p>
        </p:txBody>
      </p:sp>
      <p:sp>
        <p:nvSpPr>
          <p:cNvPr id="3" name="">
            <a:extLst xmlns:a="http://schemas.openxmlformats.org/drawingml/2006/main">
              <a:ext uri="{FF2B5EF4-FFF2-40B4-BE49-F238E27FC236}">
                <a16:creationId xmlns:a16="http://schemas.microsoft.com/office/drawing/2014/main" id="{ADF78764-F693-4709-8EBB-E462BA9BEA3B}"/>
              </a:ext>
            </a:extLst>
          </p:cNvPr>
          <p:cNvSpPr>
            <a:spLocks xmlns:a="http://schemas.openxmlformats.org/drawingml/2006/main" noGrp="1"/>
          </p:cNvSpPr>
          <p:nvPr/>
        </p:nvSpPr>
        <p:spPr>
          <a:xfrm xmlns:a="http://schemas.openxmlformats.org/drawingml/2006/main">
            <a:off x="10572750" y="62865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7887"/>
                </a:solidFill>
                <a:latin typeface="Arial"/>
                <a:ea typeface="Arial"/>
                <a:cs typeface="Arial"/>
              </a:defRPr>
            </a:pPr>
            <a:r>
              <a:rPr sz="1200" b="0">
                <a:solidFill>
                  <a:srgbClr val="687887"/>
                </a:solidFill>
                <a:latin typeface="Arial"/>
                <a:ea typeface="Arial"/>
                <a:cs typeface="Arial"/>
              </a:rPr>
              <a:t>14 / 29</a:t>
            </a:r>
          </a:p>
        </p:txBody>
      </p:sp>
    </p:spTree>
    <p:extLst>
      <p:ext uri="{BB962C8B-B14F-4D97-AF65-F5344CB8AC3E}">
        <p14:creationId xmlns:p14="http://schemas.microsoft.com/office/powerpoint/2010/main" val="341868070"/>
      </p:ext>
    </p:extLst>
  </p:cSld>
</p:sld>
</file>

<file path=ppt/slides/slide15.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96DBA75-B437-4359-A8AC-2EAAE4893F92}"/>
              </a:ext>
            </a:extLst>
          </p:cNvPr>
          <p:cNvSpPr>
            <a:spLocks xmlns:a="http://schemas.openxmlformats.org/drawingml/2006/main" noGrp="1"/>
          </p:cNvSpPr>
          <p:nvPr/>
        </p:nvSpPr>
        <p:spPr>
          <a:xfrm xmlns:a="http://schemas.openxmlformats.org/drawingml/2006/main">
            <a:off x="666750" y="5238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539"/>
                </a:solidFill>
                <a:latin typeface="Arial"/>
                <a:ea typeface="Arial"/>
                <a:cs typeface="Arial"/>
              </a:defRPr>
            </a:pPr>
            <a:r>
              <a:rPr sz="3300" b="1">
                <a:solidFill>
                  <a:srgbClr val="102539"/>
                </a:solidFill>
                <a:latin typeface="Arial"/>
                <a:ea typeface="Arial"/>
                <a:cs typeface="Arial"/>
              </a:rPr>
              <a:t>Hero editing</a:t>
            </a:r>
          </a:p>
        </p:txBody>
      </p:sp>
      <p:sp>
        <p:nvSpPr>
          <p:cNvPr id="2" name="">
            <a:extLst xmlns:a="http://schemas.openxmlformats.org/drawingml/2006/main">
              <a:ext uri="{FF2B5EF4-FFF2-40B4-BE49-F238E27FC236}">
                <a16:creationId xmlns:a16="http://schemas.microsoft.com/office/drawing/2014/main" id="{E94085A3-033E-405F-A77B-1046018C73CC}"/>
              </a:ext>
            </a:extLst>
          </p:cNvPr>
          <p:cNvSpPr>
            <a:spLocks xmlns:a="http://schemas.openxmlformats.org/drawingml/2006/main" noGrp="1"/>
          </p:cNvSpPr>
          <p:nvPr/>
        </p:nvSpPr>
        <p:spPr>
          <a:xfrm xmlns:a="http://schemas.openxmlformats.org/drawingml/2006/main">
            <a:off x="704850" y="1952625"/>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Open a page or branch preview tile</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Choose an image or video from the asset picker</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Adjust desktop and mobile focal point, scale and fit</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Save; refresh the public page to confirm the result</a:t>
            </a:r>
          </a:p>
        </p:txBody>
      </p:sp>
      <p:sp>
        <p:nvSpPr>
          <p:cNvPr id="3" name="">
            <a:extLst xmlns:a="http://schemas.openxmlformats.org/drawingml/2006/main">
              <a:ext uri="{FF2B5EF4-FFF2-40B4-BE49-F238E27FC236}">
                <a16:creationId xmlns:a16="http://schemas.microsoft.com/office/drawing/2014/main" id="{6844D199-4D64-4381-B244-EE4803688689}"/>
              </a:ext>
            </a:extLst>
          </p:cNvPr>
          <p:cNvSpPr>
            <a:spLocks xmlns:a="http://schemas.openxmlformats.org/drawingml/2006/main" noGrp="1"/>
          </p:cNvSpPr>
          <p:nvPr/>
        </p:nvSpPr>
        <p:spPr>
          <a:xfrm xmlns:a="http://schemas.openxmlformats.org/drawingml/2006/main">
            <a:off x="10572750" y="62865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7887"/>
                </a:solidFill>
                <a:latin typeface="Arial"/>
                <a:ea typeface="Arial"/>
                <a:cs typeface="Arial"/>
              </a:defRPr>
            </a:pPr>
            <a:r>
              <a:rPr sz="1200" b="0">
                <a:solidFill>
                  <a:srgbClr val="687887"/>
                </a:solidFill>
                <a:latin typeface="Arial"/>
                <a:ea typeface="Arial"/>
                <a:cs typeface="Arial"/>
              </a:rPr>
              <a:t>15 / 29</a:t>
            </a:r>
          </a:p>
        </p:txBody>
      </p:sp>
    </p:spTree>
    <p:extLst>
      <p:ext uri="{BB962C8B-B14F-4D97-AF65-F5344CB8AC3E}">
        <p14:creationId xmlns:p14="http://schemas.microsoft.com/office/powerpoint/2010/main" val="1376836004"/>
      </p:ext>
    </p:extLst>
  </p:cSld>
</p:sld>
</file>

<file path=ppt/slides/slide16.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B803D37-4A82-4875-8315-941624376256}"/>
              </a:ext>
            </a:extLst>
          </p:cNvPr>
          <p:cNvSpPr>
            <a:spLocks xmlns:a="http://schemas.openxmlformats.org/drawingml/2006/main" noGrp="1"/>
          </p:cNvSpPr>
          <p:nvPr/>
        </p:nvSpPr>
        <p:spPr>
          <a:xfrm xmlns:a="http://schemas.openxmlformats.org/drawingml/2006/main">
            <a:off x="666750" y="5238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539"/>
                </a:solidFill>
                <a:latin typeface="Arial"/>
                <a:ea typeface="Arial"/>
                <a:cs typeface="Arial"/>
              </a:defRPr>
            </a:pPr>
            <a:r>
              <a:rPr sz="3300" b="1">
                <a:solidFill>
                  <a:srgbClr val="102539"/>
                </a:solidFill>
                <a:latin typeface="Arial"/>
                <a:ea typeface="Arial"/>
                <a:cs typeface="Arial"/>
              </a:rPr>
              <a:t>Images within pages</a:t>
            </a:r>
          </a:p>
        </p:txBody>
      </p:sp>
      <p:sp>
        <p:nvSpPr>
          <p:cNvPr id="2" name="">
            <a:extLst xmlns:a="http://schemas.openxmlformats.org/drawingml/2006/main">
              <a:ext uri="{FF2B5EF4-FFF2-40B4-BE49-F238E27FC236}">
                <a16:creationId xmlns:a16="http://schemas.microsoft.com/office/drawing/2014/main" id="{2208E948-A28A-4BA0-9639-7BCA81334575}"/>
              </a:ext>
            </a:extLst>
          </p:cNvPr>
          <p:cNvSpPr>
            <a:spLocks xmlns:a="http://schemas.openxmlformats.org/drawingml/2006/main" noGrp="1"/>
          </p:cNvSpPr>
          <p:nvPr/>
        </p:nvSpPr>
        <p:spPr>
          <a:xfrm xmlns:a="http://schemas.openxmlformats.org/drawingml/2006/main">
            <a:off x="704850" y="1952625"/>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Open Edit images within pages from main admin</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Expand the page and choose replacements for listed images</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Save page images to apply the selections</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Use separate branch, pastor and hero editors for their images</a:t>
            </a:r>
          </a:p>
        </p:txBody>
      </p:sp>
      <p:sp>
        <p:nvSpPr>
          <p:cNvPr id="3" name="">
            <a:extLst xmlns:a="http://schemas.openxmlformats.org/drawingml/2006/main">
              <a:ext uri="{FF2B5EF4-FFF2-40B4-BE49-F238E27FC236}">
                <a16:creationId xmlns:a16="http://schemas.microsoft.com/office/drawing/2014/main" id="{5256BC9E-5DA0-4C14-BF07-D1B6578ACC07}"/>
              </a:ext>
            </a:extLst>
          </p:cNvPr>
          <p:cNvSpPr>
            <a:spLocks xmlns:a="http://schemas.openxmlformats.org/drawingml/2006/main" noGrp="1"/>
          </p:cNvSpPr>
          <p:nvPr/>
        </p:nvSpPr>
        <p:spPr>
          <a:xfrm xmlns:a="http://schemas.openxmlformats.org/drawingml/2006/main">
            <a:off x="10572750" y="62865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7887"/>
                </a:solidFill>
                <a:latin typeface="Arial"/>
                <a:ea typeface="Arial"/>
                <a:cs typeface="Arial"/>
              </a:defRPr>
            </a:pPr>
            <a:r>
              <a:rPr sz="1200" b="0">
                <a:solidFill>
                  <a:srgbClr val="687887"/>
                </a:solidFill>
                <a:latin typeface="Arial"/>
                <a:ea typeface="Arial"/>
                <a:cs typeface="Arial"/>
              </a:rPr>
              <a:t>16 / 29</a:t>
            </a:r>
          </a:p>
        </p:txBody>
      </p:sp>
    </p:spTree>
    <p:extLst>
      <p:ext uri="{BB962C8B-B14F-4D97-AF65-F5344CB8AC3E}">
        <p14:creationId xmlns:p14="http://schemas.microsoft.com/office/powerpoint/2010/main" val="2103615443"/>
      </p:ext>
    </p:extLst>
  </p:cSld>
</p:sld>
</file>

<file path=ppt/slides/slide17.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1A6607A-9651-458E-BEFC-1D7AE01501E4}"/>
              </a:ext>
            </a:extLst>
          </p:cNvPr>
          <p:cNvSpPr>
            <a:spLocks xmlns:a="http://schemas.openxmlformats.org/drawingml/2006/main" noGrp="1"/>
          </p:cNvSpPr>
          <p:nvPr/>
        </p:nvSpPr>
        <p:spPr>
          <a:xfrm xmlns:a="http://schemas.openxmlformats.org/drawingml/2006/main">
            <a:off x="666750" y="5238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539"/>
                </a:solidFill>
                <a:latin typeface="Arial"/>
                <a:ea typeface="Arial"/>
                <a:cs typeface="Arial"/>
              </a:defRPr>
            </a:pPr>
            <a:r>
              <a:rPr sz="3300" b="1">
                <a:solidFill>
                  <a:srgbClr val="102539"/>
                </a:solidFill>
                <a:latin typeface="Arial"/>
                <a:ea typeface="Arial"/>
                <a:cs typeface="Arial"/>
              </a:rPr>
              <a:t>Asset library</a:t>
            </a:r>
          </a:p>
        </p:txBody>
      </p:sp>
      <p:sp>
        <p:nvSpPr>
          <p:cNvPr id="2" name="">
            <a:extLst xmlns:a="http://schemas.openxmlformats.org/drawingml/2006/main">
              <a:ext uri="{FF2B5EF4-FFF2-40B4-BE49-F238E27FC236}">
                <a16:creationId xmlns:a16="http://schemas.microsoft.com/office/drawing/2014/main" id="{C09DAFFA-6BA4-42F7-83FF-9E4004817091}"/>
              </a:ext>
            </a:extLst>
          </p:cNvPr>
          <p:cNvSpPr>
            <a:spLocks xmlns:a="http://schemas.openxmlformats.org/drawingml/2006/main" noGrp="1"/>
          </p:cNvSpPr>
          <p:nvPr/>
        </p:nvSpPr>
        <p:spPr>
          <a:xfrm xmlns:a="http://schemas.openxmlformats.org/drawingml/2006/main">
            <a:off x="704850" y="1952625"/>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Upload files, search by name and filter the list</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Choose library assets in the relevant content editor</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Edit framing to change how an image fits its containers</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Delete only after confirming the file has no active use</a:t>
            </a:r>
          </a:p>
        </p:txBody>
      </p:sp>
      <p:sp>
        <p:nvSpPr>
          <p:cNvPr id="3" name="">
            <a:extLst xmlns:a="http://schemas.openxmlformats.org/drawingml/2006/main">
              <a:ext uri="{FF2B5EF4-FFF2-40B4-BE49-F238E27FC236}">
                <a16:creationId xmlns:a16="http://schemas.microsoft.com/office/drawing/2014/main" id="{53A01324-5037-44AA-8AA5-3EBE48559C76}"/>
              </a:ext>
            </a:extLst>
          </p:cNvPr>
          <p:cNvSpPr>
            <a:spLocks xmlns:a="http://schemas.openxmlformats.org/drawingml/2006/main" noGrp="1"/>
          </p:cNvSpPr>
          <p:nvPr/>
        </p:nvSpPr>
        <p:spPr>
          <a:xfrm xmlns:a="http://schemas.openxmlformats.org/drawingml/2006/main">
            <a:off x="10572750" y="62865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7887"/>
                </a:solidFill>
                <a:latin typeface="Arial"/>
                <a:ea typeface="Arial"/>
                <a:cs typeface="Arial"/>
              </a:defRPr>
            </a:pPr>
            <a:r>
              <a:rPr sz="1200" b="0">
                <a:solidFill>
                  <a:srgbClr val="687887"/>
                </a:solidFill>
                <a:latin typeface="Arial"/>
                <a:ea typeface="Arial"/>
                <a:cs typeface="Arial"/>
              </a:rPr>
              <a:t>17 / 29</a:t>
            </a:r>
          </a:p>
        </p:txBody>
      </p:sp>
    </p:spTree>
    <p:extLst>
      <p:ext uri="{BB962C8B-B14F-4D97-AF65-F5344CB8AC3E}">
        <p14:creationId xmlns:p14="http://schemas.microsoft.com/office/powerpoint/2010/main" val="561026425"/>
      </p:ext>
    </p:extLst>
  </p:cSld>
</p:sld>
</file>

<file path=ppt/slides/slide18.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B604FD6-A586-4B92-9D34-287785F813D0}"/>
              </a:ext>
            </a:extLst>
          </p:cNvPr>
          <p:cNvSpPr>
            <a:spLocks xmlns:a="http://schemas.openxmlformats.org/drawingml/2006/main" noGrp="1"/>
          </p:cNvSpPr>
          <p:nvPr/>
        </p:nvSpPr>
        <p:spPr>
          <a:xfrm xmlns:a="http://schemas.openxmlformats.org/drawingml/2006/main">
            <a:off x="666750" y="5238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539"/>
                </a:solidFill>
                <a:latin typeface="Arial"/>
                <a:ea typeface="Arial"/>
                <a:cs typeface="Arial"/>
              </a:defRPr>
            </a:pPr>
            <a:r>
              <a:rPr sz="3300" b="1">
                <a:solidFill>
                  <a:srgbClr val="102539"/>
                </a:solidFill>
                <a:latin typeface="Arial"/>
                <a:ea typeface="Arial"/>
                <a:cs typeface="Arial"/>
              </a:rPr>
              <a:t>Pastors and weekly content</a:t>
            </a:r>
          </a:p>
        </p:txBody>
      </p:sp>
      <p:sp>
        <p:nvSpPr>
          <p:cNvPr id="2" name="">
            <a:extLst xmlns:a="http://schemas.openxmlformats.org/drawingml/2006/main">
              <a:ext uri="{FF2B5EF4-FFF2-40B4-BE49-F238E27FC236}">
                <a16:creationId xmlns:a16="http://schemas.microsoft.com/office/drawing/2014/main" id="{2AC6E58A-F881-436F-B4D1-27D6947DE283}"/>
              </a:ext>
            </a:extLst>
          </p:cNvPr>
          <p:cNvSpPr>
            <a:spLocks xmlns:a="http://schemas.openxmlformats.org/drawingml/2006/main" noGrp="1"/>
          </p:cNvSpPr>
          <p:nvPr/>
        </p:nvSpPr>
        <p:spPr>
          <a:xfrm xmlns:a="http://schemas.openxmlformats.org/drawingml/2006/main">
            <a:off x="704850" y="1952625"/>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Manage associate pastors adds, edits and removes profiles</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Maintain each pastor’s name, role, portrait and introduction</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Pastor’s Thought controls the Watch-page encouragement</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Site Header Message controls the anniversary/top-bar text</a:t>
            </a:r>
          </a:p>
        </p:txBody>
      </p:sp>
      <p:sp>
        <p:nvSpPr>
          <p:cNvPr id="3" name="">
            <a:extLst xmlns:a="http://schemas.openxmlformats.org/drawingml/2006/main">
              <a:ext uri="{FF2B5EF4-FFF2-40B4-BE49-F238E27FC236}">
                <a16:creationId xmlns:a16="http://schemas.microsoft.com/office/drawing/2014/main" id="{7B46470F-6D80-4B3F-8B52-1B1B9FD73C25}"/>
              </a:ext>
            </a:extLst>
          </p:cNvPr>
          <p:cNvSpPr>
            <a:spLocks xmlns:a="http://schemas.openxmlformats.org/drawingml/2006/main" noGrp="1"/>
          </p:cNvSpPr>
          <p:nvPr/>
        </p:nvSpPr>
        <p:spPr>
          <a:xfrm xmlns:a="http://schemas.openxmlformats.org/drawingml/2006/main">
            <a:off x="10572750" y="62865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7887"/>
                </a:solidFill>
                <a:latin typeface="Arial"/>
                <a:ea typeface="Arial"/>
                <a:cs typeface="Arial"/>
              </a:defRPr>
            </a:pPr>
            <a:r>
              <a:rPr sz="1200" b="0">
                <a:solidFill>
                  <a:srgbClr val="687887"/>
                </a:solidFill>
                <a:latin typeface="Arial"/>
                <a:ea typeface="Arial"/>
                <a:cs typeface="Arial"/>
              </a:rPr>
              <a:t>18 / 29</a:t>
            </a:r>
          </a:p>
        </p:txBody>
      </p:sp>
    </p:spTree>
    <p:extLst>
      <p:ext uri="{BB962C8B-B14F-4D97-AF65-F5344CB8AC3E}">
        <p14:creationId xmlns:p14="http://schemas.microsoft.com/office/powerpoint/2010/main" val="1906655578"/>
      </p:ext>
    </p:extLst>
  </p:cSld>
</p:sld>
</file>

<file path=ppt/slides/slide19.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9DE2B1E-4E3D-489D-94A2-08711B9329EF}"/>
              </a:ext>
            </a:extLst>
          </p:cNvPr>
          <p:cNvSpPr>
            <a:spLocks xmlns:a="http://schemas.openxmlformats.org/drawingml/2006/main" noGrp="1"/>
          </p:cNvSpPr>
          <p:nvPr/>
        </p:nvSpPr>
        <p:spPr>
          <a:xfrm xmlns:a="http://schemas.openxmlformats.org/drawingml/2006/main">
            <a:off x="666750" y="5238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539"/>
                </a:solidFill>
                <a:latin typeface="Arial"/>
                <a:ea typeface="Arial"/>
                <a:cs typeface="Arial"/>
              </a:defRPr>
            </a:pPr>
            <a:r>
              <a:rPr sz="3300" b="1">
                <a:solidFill>
                  <a:srgbClr val="102539"/>
                </a:solidFill>
                <a:latin typeface="Arial"/>
                <a:ea typeface="Arial"/>
                <a:cs typeface="Arial"/>
              </a:rPr>
              <a:t>Calendar ownership</a:t>
            </a:r>
          </a:p>
        </p:txBody>
      </p:sp>
      <p:sp>
        <p:nvSpPr>
          <p:cNvPr id="2" name="">
            <a:extLst xmlns:a="http://schemas.openxmlformats.org/drawingml/2006/main">
              <a:ext uri="{FF2B5EF4-FFF2-40B4-BE49-F238E27FC236}">
                <a16:creationId xmlns:a16="http://schemas.microsoft.com/office/drawing/2014/main" id="{0B54806F-50E2-48FA-B4E5-EAFD0945C4C5}"/>
              </a:ext>
            </a:extLst>
          </p:cNvPr>
          <p:cNvSpPr>
            <a:spLocks xmlns:a="http://schemas.openxmlformats.org/drawingml/2006/main" noGrp="1"/>
          </p:cNvSpPr>
          <p:nvPr/>
        </p:nvSpPr>
        <p:spPr>
          <a:xfrm xmlns:a="http://schemas.openxmlformats.org/drawingml/2006/main">
            <a:off x="704850" y="1952625"/>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Maintain events in Outlook’s Church Events calendar</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Owner supplied: guarantor1@londonpentecostalchurch.org</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Website admin does not create or edit calendar meetings</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Titles, dates, start/end times and locations come from Outlook</a:t>
            </a:r>
          </a:p>
        </p:txBody>
      </p:sp>
      <p:sp>
        <p:nvSpPr>
          <p:cNvPr id="3" name="">
            <a:extLst xmlns:a="http://schemas.openxmlformats.org/drawingml/2006/main">
              <a:ext uri="{FF2B5EF4-FFF2-40B4-BE49-F238E27FC236}">
                <a16:creationId xmlns:a16="http://schemas.microsoft.com/office/drawing/2014/main" id="{71B6F28E-BDE9-4FB0-A173-E1645571DDD2}"/>
              </a:ext>
            </a:extLst>
          </p:cNvPr>
          <p:cNvSpPr>
            <a:spLocks xmlns:a="http://schemas.openxmlformats.org/drawingml/2006/main" noGrp="1"/>
          </p:cNvSpPr>
          <p:nvPr/>
        </p:nvSpPr>
        <p:spPr>
          <a:xfrm xmlns:a="http://schemas.openxmlformats.org/drawingml/2006/main">
            <a:off x="10572750" y="62865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7887"/>
                </a:solidFill>
                <a:latin typeface="Arial"/>
                <a:ea typeface="Arial"/>
                <a:cs typeface="Arial"/>
              </a:defRPr>
            </a:pPr>
            <a:r>
              <a:rPr sz="1200" b="0">
                <a:solidFill>
                  <a:srgbClr val="687887"/>
                </a:solidFill>
                <a:latin typeface="Arial"/>
                <a:ea typeface="Arial"/>
                <a:cs typeface="Arial"/>
              </a:rPr>
              <a:t>19 / 29</a:t>
            </a:r>
          </a:p>
        </p:txBody>
      </p:sp>
    </p:spTree>
    <p:extLst>
      <p:ext uri="{BB962C8B-B14F-4D97-AF65-F5344CB8AC3E}">
        <p14:creationId xmlns:p14="http://schemas.microsoft.com/office/powerpoint/2010/main" val="444988052"/>
      </p:ext>
    </p:extLst>
  </p:cSld>
</p:sld>
</file>

<file path=ppt/slides/slide20.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91305C9-9174-4754-9DE5-AC4437DA6B1F}"/>
              </a:ext>
            </a:extLst>
          </p:cNvPr>
          <p:cNvSpPr>
            <a:spLocks xmlns:a="http://schemas.openxmlformats.org/drawingml/2006/main" noGrp="1"/>
          </p:cNvSpPr>
          <p:nvPr/>
        </p:nvSpPr>
        <p:spPr>
          <a:xfrm xmlns:a="http://schemas.openxmlformats.org/drawingml/2006/main">
            <a:off x="666750" y="5238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539"/>
                </a:solidFill>
                <a:latin typeface="Arial"/>
                <a:ea typeface="Arial"/>
                <a:cs typeface="Arial"/>
              </a:defRPr>
            </a:pPr>
            <a:r>
              <a:rPr sz="3300" b="1">
                <a:solidFill>
                  <a:srgbClr val="102539"/>
                </a:solidFill>
                <a:latin typeface="Arial"/>
                <a:ea typeface="Arial"/>
                <a:cs typeface="Arial"/>
              </a:rPr>
              <a:t>Calendar publishing</a:t>
            </a:r>
          </a:p>
        </p:txBody>
      </p:sp>
      <p:sp>
        <p:nvSpPr>
          <p:cNvPr id="2" name="">
            <a:extLst xmlns:a="http://schemas.openxmlformats.org/drawingml/2006/main">
              <a:ext uri="{FF2B5EF4-FFF2-40B4-BE49-F238E27FC236}">
                <a16:creationId xmlns:a16="http://schemas.microsoft.com/office/drawing/2014/main" id="{52D4C5A4-91A2-429E-9FA9-47E8BC11FF0C}"/>
              </a:ext>
            </a:extLst>
          </p:cNvPr>
          <p:cNvSpPr>
            <a:spLocks xmlns:a="http://schemas.openxmlformats.org/drawingml/2006/main" noGrp="1"/>
          </p:cNvSpPr>
          <p:nvPr/>
        </p:nvSpPr>
        <p:spPr>
          <a:xfrm xmlns:a="http://schemas.openxmlformats.org/drawingml/2006/main">
            <a:off x="704850" y="1952625"/>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Outlook Settings: Calendar, Shared calendars</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Publish Church Events with appropriate public detail visibility</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Use the ICS subscription link for the website</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Set LPC_CALENDAR_ICS_URL on the host to replace the feed</a:t>
            </a:r>
          </a:p>
        </p:txBody>
      </p:sp>
      <p:sp>
        <p:nvSpPr>
          <p:cNvPr id="3" name="">
            <a:extLst xmlns:a="http://schemas.openxmlformats.org/drawingml/2006/main">
              <a:ext uri="{FF2B5EF4-FFF2-40B4-BE49-F238E27FC236}">
                <a16:creationId xmlns:a16="http://schemas.microsoft.com/office/drawing/2014/main" id="{6E8CEF18-F253-40D3-AE36-C189515EE89E}"/>
              </a:ext>
            </a:extLst>
          </p:cNvPr>
          <p:cNvSpPr>
            <a:spLocks xmlns:a="http://schemas.openxmlformats.org/drawingml/2006/main" noGrp="1"/>
          </p:cNvSpPr>
          <p:nvPr/>
        </p:nvSpPr>
        <p:spPr>
          <a:xfrm xmlns:a="http://schemas.openxmlformats.org/drawingml/2006/main">
            <a:off x="10572750" y="62865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7887"/>
                </a:solidFill>
                <a:latin typeface="Arial"/>
                <a:ea typeface="Arial"/>
                <a:cs typeface="Arial"/>
              </a:defRPr>
            </a:pPr>
            <a:r>
              <a:rPr sz="1200" b="0">
                <a:solidFill>
                  <a:srgbClr val="687887"/>
                </a:solidFill>
                <a:latin typeface="Arial"/>
                <a:ea typeface="Arial"/>
                <a:cs typeface="Arial"/>
              </a:rPr>
              <a:t>20 / 29</a:t>
            </a:r>
          </a:p>
        </p:txBody>
      </p:sp>
    </p:spTree>
    <p:extLst>
      <p:ext uri="{BB962C8B-B14F-4D97-AF65-F5344CB8AC3E}">
        <p14:creationId xmlns:p14="http://schemas.microsoft.com/office/powerpoint/2010/main" val="1347052662"/>
      </p:ext>
    </p:extLst>
  </p:cSld>
</p:sld>
</file>

<file path=ppt/slides/slide21.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9FE1C00-801E-435B-BE3E-878F39A5B0DA}"/>
              </a:ext>
            </a:extLst>
          </p:cNvPr>
          <p:cNvSpPr>
            <a:spLocks xmlns:a="http://schemas.openxmlformats.org/drawingml/2006/main" noGrp="1"/>
          </p:cNvSpPr>
          <p:nvPr/>
        </p:nvSpPr>
        <p:spPr>
          <a:xfrm xmlns:a="http://schemas.openxmlformats.org/drawingml/2006/main">
            <a:off x="666750" y="5238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539"/>
                </a:solidFill>
                <a:latin typeface="Arial"/>
                <a:ea typeface="Arial"/>
                <a:cs typeface="Arial"/>
              </a:defRPr>
            </a:pPr>
            <a:r>
              <a:rPr sz="3300" b="1">
                <a:solidFill>
                  <a:srgbClr val="102539"/>
                </a:solidFill>
                <a:latin typeface="Arial"/>
                <a:ea typeface="Arial"/>
                <a:cs typeface="Arial"/>
              </a:rPr>
              <a:t>Coming up at LPC</a:t>
            </a:r>
          </a:p>
        </p:txBody>
      </p:sp>
      <p:sp>
        <p:nvSpPr>
          <p:cNvPr id="2" name="">
            <a:extLst xmlns:a="http://schemas.openxmlformats.org/drawingml/2006/main">
              <a:ext uri="{FF2B5EF4-FFF2-40B4-BE49-F238E27FC236}">
                <a16:creationId xmlns:a16="http://schemas.microsoft.com/office/drawing/2014/main" id="{CAB66813-9B31-4168-8BB5-B7C403B30C81}"/>
              </a:ext>
            </a:extLst>
          </p:cNvPr>
          <p:cNvSpPr>
            <a:spLocks xmlns:a="http://schemas.openxmlformats.org/drawingml/2006/main" noGrp="1"/>
          </p:cNvSpPr>
          <p:nvPr/>
        </p:nvSpPr>
        <p:spPr>
          <a:xfrm xmlns:a="http://schemas.openxmlformats.org/drawingml/2006/main">
            <a:off x="704850" y="1952625"/>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The feed covers the next 30 days</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Recurring events and exceptions are expanded</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Finished, cancelled and private events are excluded</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Current implementation caps output at 30 event occurrences</a:t>
            </a:r>
          </a:p>
        </p:txBody>
      </p:sp>
      <p:sp>
        <p:nvSpPr>
          <p:cNvPr id="3" name="">
            <a:extLst xmlns:a="http://schemas.openxmlformats.org/drawingml/2006/main">
              <a:ext uri="{FF2B5EF4-FFF2-40B4-BE49-F238E27FC236}">
                <a16:creationId xmlns:a16="http://schemas.microsoft.com/office/drawing/2014/main" id="{4E43A0F1-E11F-4BF3-8EBF-3E4DDCD67B9C}"/>
              </a:ext>
            </a:extLst>
          </p:cNvPr>
          <p:cNvSpPr>
            <a:spLocks xmlns:a="http://schemas.openxmlformats.org/drawingml/2006/main" noGrp="1"/>
          </p:cNvSpPr>
          <p:nvPr/>
        </p:nvSpPr>
        <p:spPr>
          <a:xfrm xmlns:a="http://schemas.openxmlformats.org/drawingml/2006/main">
            <a:off x="10572750" y="62865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7887"/>
                </a:solidFill>
                <a:latin typeface="Arial"/>
                <a:ea typeface="Arial"/>
                <a:cs typeface="Arial"/>
              </a:defRPr>
            </a:pPr>
            <a:r>
              <a:rPr sz="1200" b="0">
                <a:solidFill>
                  <a:srgbClr val="687887"/>
                </a:solidFill>
                <a:latin typeface="Arial"/>
                <a:ea typeface="Arial"/>
                <a:cs typeface="Arial"/>
              </a:rPr>
              <a:t>21 / 29</a:t>
            </a:r>
          </a:p>
        </p:txBody>
      </p:sp>
    </p:spTree>
    <p:extLst>
      <p:ext uri="{BB962C8B-B14F-4D97-AF65-F5344CB8AC3E}">
        <p14:creationId xmlns:p14="http://schemas.microsoft.com/office/powerpoint/2010/main" val="74719133"/>
      </p:ext>
    </p:extLst>
  </p:cSld>
</p:sld>
</file>

<file path=ppt/slides/slide22.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F761C21-EB09-4139-AD18-B2B117A38342}"/>
              </a:ext>
            </a:extLst>
          </p:cNvPr>
          <p:cNvSpPr>
            <a:spLocks xmlns:a="http://schemas.openxmlformats.org/drawingml/2006/main" noGrp="1"/>
          </p:cNvSpPr>
          <p:nvPr/>
        </p:nvSpPr>
        <p:spPr>
          <a:xfrm xmlns:a="http://schemas.openxmlformats.org/drawingml/2006/main">
            <a:off x="666750" y="5238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539"/>
                </a:solidFill>
                <a:latin typeface="Arial"/>
                <a:ea typeface="Arial"/>
                <a:cs typeface="Arial"/>
              </a:defRPr>
            </a:pPr>
            <a:r>
              <a:rPr sz="3300" b="1">
                <a:solidFill>
                  <a:srgbClr val="102539"/>
                </a:solidFill>
                <a:latin typeface="Arial"/>
                <a:ea typeface="Arial"/>
                <a:cs typeface="Arial"/>
              </a:rPr>
              <a:t>Calendar cards and colours</a:t>
            </a:r>
          </a:p>
        </p:txBody>
      </p:sp>
      <p:sp>
        <p:nvSpPr>
          <p:cNvPr id="2" name="">
            <a:extLst xmlns:a="http://schemas.openxmlformats.org/drawingml/2006/main">
              <a:ext uri="{FF2B5EF4-FFF2-40B4-BE49-F238E27FC236}">
                <a16:creationId xmlns:a16="http://schemas.microsoft.com/office/drawing/2014/main" id="{18AF72C7-050B-440E-AE85-E3C240BBCD49}"/>
              </a:ext>
            </a:extLst>
          </p:cNvPr>
          <p:cNvSpPr>
            <a:spLocks xmlns:a="http://schemas.openxmlformats.org/drawingml/2006/main" noGrp="1"/>
          </p:cNvSpPr>
          <p:nvPr/>
        </p:nvSpPr>
        <p:spPr>
          <a:xfrm xmlns:a="http://schemas.openxmlformats.org/drawingml/2006/main">
            <a:off x="704850" y="1952625"/>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One date and one location produce one tile</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Services show their own start and end times</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Branch matching supplies the label and coloured borders</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South London uses Bexleyheath, South London</a:t>
            </a:r>
          </a:p>
        </p:txBody>
      </p:sp>
      <p:sp>
        <p:nvSpPr>
          <p:cNvPr id="3" name="">
            <a:extLst xmlns:a="http://schemas.openxmlformats.org/drawingml/2006/main">
              <a:ext uri="{FF2B5EF4-FFF2-40B4-BE49-F238E27FC236}">
                <a16:creationId xmlns:a16="http://schemas.microsoft.com/office/drawing/2014/main" id="{98C331EC-AF23-4CDB-A3D9-8EFC8A922AC3}"/>
              </a:ext>
            </a:extLst>
          </p:cNvPr>
          <p:cNvSpPr>
            <a:spLocks xmlns:a="http://schemas.openxmlformats.org/drawingml/2006/main" noGrp="1"/>
          </p:cNvSpPr>
          <p:nvPr/>
        </p:nvSpPr>
        <p:spPr>
          <a:xfrm xmlns:a="http://schemas.openxmlformats.org/drawingml/2006/main">
            <a:off x="10572750" y="62865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7887"/>
                </a:solidFill>
                <a:latin typeface="Arial"/>
                <a:ea typeface="Arial"/>
                <a:cs typeface="Arial"/>
              </a:defRPr>
            </a:pPr>
            <a:r>
              <a:rPr sz="1200" b="0">
                <a:solidFill>
                  <a:srgbClr val="687887"/>
                </a:solidFill>
                <a:latin typeface="Arial"/>
                <a:ea typeface="Arial"/>
                <a:cs typeface="Arial"/>
              </a:rPr>
              <a:t>22 / 29</a:t>
            </a:r>
          </a:p>
        </p:txBody>
      </p:sp>
    </p:spTree>
    <p:extLst>
      <p:ext uri="{BB962C8B-B14F-4D97-AF65-F5344CB8AC3E}">
        <p14:creationId xmlns:p14="http://schemas.microsoft.com/office/powerpoint/2010/main" val="1951850815"/>
      </p:ext>
    </p:extLst>
  </p:cSld>
</p:sld>
</file>

<file path=ppt/slides/slide23.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29B53E7-55AF-4C36-AADB-F4058C6C3361}"/>
              </a:ext>
            </a:extLst>
          </p:cNvPr>
          <p:cNvSpPr>
            <a:spLocks xmlns:a="http://schemas.openxmlformats.org/drawingml/2006/main" noGrp="1"/>
          </p:cNvSpPr>
          <p:nvPr/>
        </p:nvSpPr>
        <p:spPr>
          <a:xfrm xmlns:a="http://schemas.openxmlformats.org/drawingml/2006/main">
            <a:off x="666750" y="5238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539"/>
                </a:solidFill>
                <a:latin typeface="Arial"/>
                <a:ea typeface="Arial"/>
                <a:cs typeface="Arial"/>
              </a:defRPr>
            </a:pPr>
            <a:r>
              <a:rPr sz="3300" b="1">
                <a:solidFill>
                  <a:srgbClr val="102539"/>
                </a:solidFill>
                <a:latin typeface="Arial"/>
                <a:ea typeface="Arial"/>
                <a:cs typeface="Arial"/>
              </a:rPr>
              <a:t>Calendar refresh and images</a:t>
            </a:r>
          </a:p>
        </p:txBody>
      </p:sp>
      <p:sp>
        <p:nvSpPr>
          <p:cNvPr id="2" name="">
            <a:extLst xmlns:a="http://schemas.openxmlformats.org/drawingml/2006/main">
              <a:ext uri="{FF2B5EF4-FFF2-40B4-BE49-F238E27FC236}">
                <a16:creationId xmlns:a16="http://schemas.microsoft.com/office/drawing/2014/main" id="{9E7CE1F7-B316-4F04-8077-4CB1BBD070D8}"/>
              </a:ext>
            </a:extLst>
          </p:cNvPr>
          <p:cNvSpPr>
            <a:spLocks xmlns:a="http://schemas.openxmlformats.org/drawingml/2006/main" noGrp="1"/>
          </p:cNvSpPr>
          <p:nvPr/>
        </p:nvSpPr>
        <p:spPr>
          <a:xfrm xmlns:a="http://schemas.openxmlformats.org/drawingml/2006/main">
            <a:off x="704850" y="1952625"/>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The server caches a feed result for five minutes</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Refresh the page after the cache expires to see changes</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Cards advance every six seconds with Pause/Play controls</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Calendar image previews and popouts have been removed</a:t>
            </a:r>
          </a:p>
        </p:txBody>
      </p:sp>
      <p:sp>
        <p:nvSpPr>
          <p:cNvPr id="3" name="">
            <a:extLst xmlns:a="http://schemas.openxmlformats.org/drawingml/2006/main">
              <a:ext uri="{FF2B5EF4-FFF2-40B4-BE49-F238E27FC236}">
                <a16:creationId xmlns:a16="http://schemas.microsoft.com/office/drawing/2014/main" id="{5DC6FEC6-5636-4AA4-A36F-DC74D7BE41C6}"/>
              </a:ext>
            </a:extLst>
          </p:cNvPr>
          <p:cNvSpPr>
            <a:spLocks xmlns:a="http://schemas.openxmlformats.org/drawingml/2006/main" noGrp="1"/>
          </p:cNvSpPr>
          <p:nvPr/>
        </p:nvSpPr>
        <p:spPr>
          <a:xfrm xmlns:a="http://schemas.openxmlformats.org/drawingml/2006/main">
            <a:off x="10572750" y="62865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7887"/>
                </a:solidFill>
                <a:latin typeface="Arial"/>
                <a:ea typeface="Arial"/>
                <a:cs typeface="Arial"/>
              </a:defRPr>
            </a:pPr>
            <a:r>
              <a:rPr sz="1200" b="0">
                <a:solidFill>
                  <a:srgbClr val="687887"/>
                </a:solidFill>
                <a:latin typeface="Arial"/>
                <a:ea typeface="Arial"/>
                <a:cs typeface="Arial"/>
              </a:rPr>
              <a:t>23 / 29</a:t>
            </a:r>
          </a:p>
        </p:txBody>
      </p:sp>
    </p:spTree>
    <p:extLst>
      <p:ext uri="{BB962C8B-B14F-4D97-AF65-F5344CB8AC3E}">
        <p14:creationId xmlns:p14="http://schemas.microsoft.com/office/powerpoint/2010/main" val="1780316723"/>
      </p:ext>
    </p:extLst>
  </p:cSld>
</p:sld>
</file>

<file path=ppt/slides/slide24.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54EB2A3-090D-4714-8087-8A242F63D309}"/>
              </a:ext>
            </a:extLst>
          </p:cNvPr>
          <p:cNvSpPr>
            <a:spLocks xmlns:a="http://schemas.openxmlformats.org/drawingml/2006/main" noGrp="1"/>
          </p:cNvSpPr>
          <p:nvPr/>
        </p:nvSpPr>
        <p:spPr>
          <a:xfrm xmlns:a="http://schemas.openxmlformats.org/drawingml/2006/main">
            <a:off x="666750" y="5238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539"/>
                </a:solidFill>
                <a:latin typeface="Arial"/>
                <a:ea typeface="Arial"/>
                <a:cs typeface="Arial"/>
              </a:defRPr>
            </a:pPr>
            <a:r>
              <a:rPr sz="3300" b="1">
                <a:solidFill>
                  <a:srgbClr val="102539"/>
                </a:solidFill>
                <a:latin typeface="Arial"/>
                <a:ea typeface="Arial"/>
                <a:cs typeface="Arial"/>
              </a:rPr>
              <a:t>Watch page and YouTube</a:t>
            </a:r>
          </a:p>
        </p:txBody>
      </p:sp>
      <p:sp>
        <p:nvSpPr>
          <p:cNvPr id="2" name="">
            <a:extLst xmlns:a="http://schemas.openxmlformats.org/drawingml/2006/main">
              <a:ext uri="{FF2B5EF4-FFF2-40B4-BE49-F238E27FC236}">
                <a16:creationId xmlns:a16="http://schemas.microsoft.com/office/drawing/2014/main" id="{D5FBF337-02A2-442D-AD49-F897EFD30454}"/>
              </a:ext>
            </a:extLst>
          </p:cNvPr>
          <p:cNvSpPr>
            <a:spLocks xmlns:a="http://schemas.openxmlformats.org/drawingml/2006/main" noGrp="1"/>
          </p:cNvSpPr>
          <p:nvPr/>
        </p:nvSpPr>
        <p:spPr>
          <a:xfrm xmlns:a="http://schemas.openxmlformats.org/drawingml/2006/main">
            <a:off x="704850" y="1952625"/>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Channel links look for live or latest service videos</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A specific video/livestream URL overrides channel lookup</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Muted autoplay works where the browser permits it</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Temporary lookup failures retry and reuse a cached video</a:t>
            </a:r>
          </a:p>
        </p:txBody>
      </p:sp>
      <p:sp>
        <p:nvSpPr>
          <p:cNvPr id="3" name="">
            <a:extLst xmlns:a="http://schemas.openxmlformats.org/drawingml/2006/main">
              <a:ext uri="{FF2B5EF4-FFF2-40B4-BE49-F238E27FC236}">
                <a16:creationId xmlns:a16="http://schemas.microsoft.com/office/drawing/2014/main" id="{A5140A1A-8251-4DF0-BA02-299D690F197A}"/>
              </a:ext>
            </a:extLst>
          </p:cNvPr>
          <p:cNvSpPr>
            <a:spLocks xmlns:a="http://schemas.openxmlformats.org/drawingml/2006/main" noGrp="1"/>
          </p:cNvSpPr>
          <p:nvPr/>
        </p:nvSpPr>
        <p:spPr>
          <a:xfrm xmlns:a="http://schemas.openxmlformats.org/drawingml/2006/main">
            <a:off x="10572750" y="62865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7887"/>
                </a:solidFill>
                <a:latin typeface="Arial"/>
                <a:ea typeface="Arial"/>
                <a:cs typeface="Arial"/>
              </a:defRPr>
            </a:pPr>
            <a:r>
              <a:rPr sz="1200" b="0">
                <a:solidFill>
                  <a:srgbClr val="687887"/>
                </a:solidFill>
                <a:latin typeface="Arial"/>
                <a:ea typeface="Arial"/>
                <a:cs typeface="Arial"/>
              </a:rPr>
              <a:t>24 / 29</a:t>
            </a:r>
          </a:p>
        </p:txBody>
      </p:sp>
    </p:spTree>
    <p:extLst>
      <p:ext uri="{BB962C8B-B14F-4D97-AF65-F5344CB8AC3E}">
        <p14:creationId xmlns:p14="http://schemas.microsoft.com/office/powerpoint/2010/main" val="1290102180"/>
      </p:ext>
    </p:extLst>
  </p:cSld>
</p:sld>
</file>

<file path=ppt/slides/slide25.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BC96148-00F6-414C-ACE9-2A60A5C6C782}"/>
              </a:ext>
            </a:extLst>
          </p:cNvPr>
          <p:cNvSpPr>
            <a:spLocks xmlns:a="http://schemas.openxmlformats.org/drawingml/2006/main" noGrp="1"/>
          </p:cNvSpPr>
          <p:nvPr/>
        </p:nvSpPr>
        <p:spPr>
          <a:xfrm xmlns:a="http://schemas.openxmlformats.org/drawingml/2006/main">
            <a:off x="666750" y="5238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539"/>
                </a:solidFill>
                <a:latin typeface="Arial"/>
                <a:ea typeface="Arial"/>
                <a:cs typeface="Arial"/>
              </a:defRPr>
            </a:pPr>
            <a:r>
              <a:rPr sz="3300" b="1">
                <a:solidFill>
                  <a:srgbClr val="102539"/>
                </a:solidFill>
                <a:latin typeface="Arial"/>
                <a:ea typeface="Arial"/>
                <a:cs typeface="Arial"/>
              </a:rPr>
              <a:t>Contact email status</a:t>
            </a:r>
          </a:p>
        </p:txBody>
      </p:sp>
      <p:sp>
        <p:nvSpPr>
          <p:cNvPr id="2" name="">
            <a:extLst xmlns:a="http://schemas.openxmlformats.org/drawingml/2006/main">
              <a:ext uri="{FF2B5EF4-FFF2-40B4-BE49-F238E27FC236}">
                <a16:creationId xmlns:a16="http://schemas.microsoft.com/office/drawing/2014/main" id="{7B313833-590D-45BA-848E-BDFC55DC1EF1}"/>
              </a:ext>
            </a:extLst>
          </p:cNvPr>
          <p:cNvSpPr>
            <a:spLocks xmlns:a="http://schemas.openxmlformats.org/drawingml/2006/main" noGrp="1"/>
          </p:cNvSpPr>
          <p:nvPr/>
        </p:nvSpPr>
        <p:spPr>
          <a:xfrm xmlns:a="http://schemas.openxmlformats.org/drawingml/2006/main">
            <a:off x="704850" y="1952625"/>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Recipient: office@londonpentecostalchurch.org</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Visitor email becomes Reply-To</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Microsoft Graph delivery code is included</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Live delivery still needs credentials and mailbox authorisation</a:t>
            </a:r>
          </a:p>
        </p:txBody>
      </p:sp>
      <p:sp>
        <p:nvSpPr>
          <p:cNvPr id="3" name="">
            <a:extLst xmlns:a="http://schemas.openxmlformats.org/drawingml/2006/main">
              <a:ext uri="{FF2B5EF4-FFF2-40B4-BE49-F238E27FC236}">
                <a16:creationId xmlns:a16="http://schemas.microsoft.com/office/drawing/2014/main" id="{3EB5AA63-36B9-4ED8-90A5-F59BBB7DF3BB}"/>
              </a:ext>
            </a:extLst>
          </p:cNvPr>
          <p:cNvSpPr>
            <a:spLocks xmlns:a="http://schemas.openxmlformats.org/drawingml/2006/main" noGrp="1"/>
          </p:cNvSpPr>
          <p:nvPr/>
        </p:nvSpPr>
        <p:spPr>
          <a:xfrm xmlns:a="http://schemas.openxmlformats.org/drawingml/2006/main">
            <a:off x="10572750" y="62865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7887"/>
                </a:solidFill>
                <a:latin typeface="Arial"/>
                <a:ea typeface="Arial"/>
                <a:cs typeface="Arial"/>
              </a:defRPr>
            </a:pPr>
            <a:r>
              <a:rPr sz="1200" b="0">
                <a:solidFill>
                  <a:srgbClr val="687887"/>
                </a:solidFill>
                <a:latin typeface="Arial"/>
                <a:ea typeface="Arial"/>
                <a:cs typeface="Arial"/>
              </a:rPr>
              <a:t>25 / 29</a:t>
            </a:r>
          </a:p>
        </p:txBody>
      </p:sp>
    </p:spTree>
    <p:extLst>
      <p:ext uri="{BB962C8B-B14F-4D97-AF65-F5344CB8AC3E}">
        <p14:creationId xmlns:p14="http://schemas.microsoft.com/office/powerpoint/2010/main" val="1167856326"/>
      </p:ext>
    </p:extLst>
  </p:cSld>
</p:sld>
</file>

<file path=ppt/slides/slide26.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47BEE67-3649-4C9A-B33A-114EB2527EB0}"/>
              </a:ext>
            </a:extLst>
          </p:cNvPr>
          <p:cNvSpPr>
            <a:spLocks xmlns:a="http://schemas.openxmlformats.org/drawingml/2006/main" noGrp="1"/>
          </p:cNvSpPr>
          <p:nvPr/>
        </p:nvSpPr>
        <p:spPr>
          <a:xfrm xmlns:a="http://schemas.openxmlformats.org/drawingml/2006/main">
            <a:off x="666750" y="5238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539"/>
                </a:solidFill>
                <a:latin typeface="Arial"/>
                <a:ea typeface="Arial"/>
                <a:cs typeface="Arial"/>
              </a:defRPr>
            </a:pPr>
            <a:r>
              <a:rPr sz="3300" b="1">
                <a:solidFill>
                  <a:srgbClr val="102539"/>
                </a:solidFill>
                <a:latin typeface="Arial"/>
                <a:ea typeface="Arial"/>
                <a:cs typeface="Arial"/>
              </a:rPr>
              <a:t>Backup and hosting moves</a:t>
            </a:r>
          </a:p>
        </p:txBody>
      </p:sp>
      <p:sp>
        <p:nvSpPr>
          <p:cNvPr id="2" name="">
            <a:extLst xmlns:a="http://schemas.openxmlformats.org/drawingml/2006/main">
              <a:ext uri="{FF2B5EF4-FFF2-40B4-BE49-F238E27FC236}">
                <a16:creationId xmlns:a16="http://schemas.microsoft.com/office/drawing/2014/main" id="{529101E1-4023-4D40-A2A0-1B95F2DC998E}"/>
              </a:ext>
            </a:extLst>
          </p:cNvPr>
          <p:cNvSpPr>
            <a:spLocks xmlns:a="http://schemas.openxmlformats.org/drawingml/2006/main" noGrp="1"/>
          </p:cNvSpPr>
          <p:nvPr/>
        </p:nvSpPr>
        <p:spPr>
          <a:xfrm xmlns:a="http://schemas.openxmlformats.org/drawingml/2006/main">
            <a:off x="704850" y="1952625"/>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Back up the complete persistent DATA_DIR</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Keep bundled assets and the exact Git commit</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Export branch JSON for a readable branch snapshot</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Restore into staging and test before switching the domain</a:t>
            </a:r>
          </a:p>
        </p:txBody>
      </p:sp>
      <p:sp>
        <p:nvSpPr>
          <p:cNvPr id="3" name="">
            <a:extLst xmlns:a="http://schemas.openxmlformats.org/drawingml/2006/main">
              <a:ext uri="{FF2B5EF4-FFF2-40B4-BE49-F238E27FC236}">
                <a16:creationId xmlns:a16="http://schemas.microsoft.com/office/drawing/2014/main" id="{69442A4D-1AC5-4DF6-BC2A-1210EBDB8A40}"/>
              </a:ext>
            </a:extLst>
          </p:cNvPr>
          <p:cNvSpPr>
            <a:spLocks xmlns:a="http://schemas.openxmlformats.org/drawingml/2006/main" noGrp="1"/>
          </p:cNvSpPr>
          <p:nvPr/>
        </p:nvSpPr>
        <p:spPr>
          <a:xfrm xmlns:a="http://schemas.openxmlformats.org/drawingml/2006/main">
            <a:off x="10572750" y="62865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7887"/>
                </a:solidFill>
                <a:latin typeface="Arial"/>
                <a:ea typeface="Arial"/>
                <a:cs typeface="Arial"/>
              </a:defRPr>
            </a:pPr>
            <a:r>
              <a:rPr sz="1200" b="0">
                <a:solidFill>
                  <a:srgbClr val="687887"/>
                </a:solidFill>
                <a:latin typeface="Arial"/>
                <a:ea typeface="Arial"/>
                <a:cs typeface="Arial"/>
              </a:rPr>
              <a:t>26 / 29</a:t>
            </a:r>
          </a:p>
        </p:txBody>
      </p:sp>
    </p:spTree>
    <p:extLst>
      <p:ext uri="{BB962C8B-B14F-4D97-AF65-F5344CB8AC3E}">
        <p14:creationId xmlns:p14="http://schemas.microsoft.com/office/powerpoint/2010/main" val="1617063377"/>
      </p:ext>
    </p:extLst>
  </p:cSld>
</p:sld>
</file>

<file path=ppt/slides/slide27.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4431D01-A0AA-40A3-AF9C-916B2A07480F}"/>
              </a:ext>
            </a:extLst>
          </p:cNvPr>
          <p:cNvSpPr>
            <a:spLocks xmlns:a="http://schemas.openxmlformats.org/drawingml/2006/main" noGrp="1"/>
          </p:cNvSpPr>
          <p:nvPr/>
        </p:nvSpPr>
        <p:spPr>
          <a:xfrm xmlns:a="http://schemas.openxmlformats.org/drawingml/2006/main">
            <a:off x="666750" y="5238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539"/>
                </a:solidFill>
                <a:latin typeface="Arial"/>
                <a:ea typeface="Arial"/>
                <a:cs typeface="Arial"/>
              </a:defRPr>
            </a:pPr>
            <a:r>
              <a:rPr sz="3300" b="1">
                <a:solidFill>
                  <a:srgbClr val="102539"/>
                </a:solidFill>
                <a:latin typeface="Arial"/>
                <a:ea typeface="Arial"/>
                <a:cs typeface="Arial"/>
              </a:rPr>
              <a:t>Launch checks</a:t>
            </a:r>
          </a:p>
        </p:txBody>
      </p:sp>
      <p:sp>
        <p:nvSpPr>
          <p:cNvPr id="2" name="">
            <a:extLst xmlns:a="http://schemas.openxmlformats.org/drawingml/2006/main">
              <a:ext uri="{FF2B5EF4-FFF2-40B4-BE49-F238E27FC236}">
                <a16:creationId xmlns:a16="http://schemas.microsoft.com/office/drawing/2014/main" id="{C01CF1DF-A158-407A-9DE7-18D2BF0119D4}"/>
              </a:ext>
            </a:extLst>
          </p:cNvPr>
          <p:cNvSpPr>
            <a:spLocks xmlns:a="http://schemas.openxmlformats.org/drawingml/2006/main" noGrp="1"/>
          </p:cNvSpPr>
          <p:nvPr/>
        </p:nvSpPr>
        <p:spPr>
          <a:xfrm xmlns:a="http://schemas.openxmlformats.org/drawingml/2006/main">
            <a:off x="704850" y="1952625"/>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Every public page and branch route loads on desktop/mobile</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Uploaded images and homepage video display correctly</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An admin edit survives a server restart</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Calendar events and YouTube previews match their sources</a:t>
            </a:r>
          </a:p>
        </p:txBody>
      </p:sp>
      <p:sp>
        <p:nvSpPr>
          <p:cNvPr id="3" name="">
            <a:extLst xmlns:a="http://schemas.openxmlformats.org/drawingml/2006/main">
              <a:ext uri="{FF2B5EF4-FFF2-40B4-BE49-F238E27FC236}">
                <a16:creationId xmlns:a16="http://schemas.microsoft.com/office/drawing/2014/main" id="{AAA90AE0-4694-42F1-A2FE-249126E4B4D6}"/>
              </a:ext>
            </a:extLst>
          </p:cNvPr>
          <p:cNvSpPr>
            <a:spLocks xmlns:a="http://schemas.openxmlformats.org/drawingml/2006/main" noGrp="1"/>
          </p:cNvSpPr>
          <p:nvPr/>
        </p:nvSpPr>
        <p:spPr>
          <a:xfrm xmlns:a="http://schemas.openxmlformats.org/drawingml/2006/main">
            <a:off x="10572750" y="62865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7887"/>
                </a:solidFill>
                <a:latin typeface="Arial"/>
                <a:ea typeface="Arial"/>
                <a:cs typeface="Arial"/>
              </a:defRPr>
            </a:pPr>
            <a:r>
              <a:rPr sz="1200" b="0">
                <a:solidFill>
                  <a:srgbClr val="687887"/>
                </a:solidFill>
                <a:latin typeface="Arial"/>
                <a:ea typeface="Arial"/>
                <a:cs typeface="Arial"/>
              </a:rPr>
              <a:t>27 / 29</a:t>
            </a:r>
          </a:p>
        </p:txBody>
      </p:sp>
    </p:spTree>
    <p:extLst>
      <p:ext uri="{BB962C8B-B14F-4D97-AF65-F5344CB8AC3E}">
        <p14:creationId xmlns:p14="http://schemas.microsoft.com/office/powerpoint/2010/main" val="1768766616"/>
      </p:ext>
    </p:extLst>
  </p:cSld>
</p:sld>
</file>

<file path=ppt/slides/slide28.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6695FE5-D321-4CED-AD2D-D8269E439EDC}"/>
              </a:ext>
            </a:extLst>
          </p:cNvPr>
          <p:cNvSpPr>
            <a:spLocks xmlns:a="http://schemas.openxmlformats.org/drawingml/2006/main" noGrp="1"/>
          </p:cNvSpPr>
          <p:nvPr/>
        </p:nvSpPr>
        <p:spPr>
          <a:xfrm xmlns:a="http://schemas.openxmlformats.org/drawingml/2006/main">
            <a:off x="666750" y="5238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539"/>
                </a:solidFill>
                <a:latin typeface="Arial"/>
                <a:ea typeface="Arial"/>
                <a:cs typeface="Arial"/>
              </a:defRPr>
            </a:pPr>
            <a:r>
              <a:rPr sz="3300" b="1">
                <a:solidFill>
                  <a:srgbClr val="102539"/>
                </a:solidFill>
                <a:latin typeface="Arial"/>
                <a:ea typeface="Arial"/>
                <a:cs typeface="Arial"/>
              </a:rPr>
              <a:t>Troubleshooting</a:t>
            </a:r>
          </a:p>
        </p:txBody>
      </p:sp>
      <p:sp>
        <p:nvSpPr>
          <p:cNvPr id="2" name="">
            <a:extLst xmlns:a="http://schemas.openxmlformats.org/drawingml/2006/main">
              <a:ext uri="{FF2B5EF4-FFF2-40B4-BE49-F238E27FC236}">
                <a16:creationId xmlns:a16="http://schemas.microsoft.com/office/drawing/2014/main" id="{EC0FD5AA-267E-4BA3-81CF-6FBFCE71BF60}"/>
              </a:ext>
            </a:extLst>
          </p:cNvPr>
          <p:cNvSpPr>
            <a:spLocks xmlns:a="http://schemas.openxmlformats.org/drawingml/2006/main" noGrp="1"/>
          </p:cNvSpPr>
          <p:nvPr/>
        </p:nvSpPr>
        <p:spPr>
          <a:xfrm xmlns:a="http://schemas.openxmlformats.org/drawingml/2006/main">
            <a:off x="704850" y="1952625"/>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Not found / invalid JSON: check endpoint and deployed version</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Image unchanged: select, save, refresh and check hero override</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Missing event: check date window, location and published feed</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YouTube fallback: retry and inspect channel/video permissions</a:t>
            </a:r>
          </a:p>
        </p:txBody>
      </p:sp>
      <p:sp>
        <p:nvSpPr>
          <p:cNvPr id="3" name="">
            <a:extLst xmlns:a="http://schemas.openxmlformats.org/drawingml/2006/main">
              <a:ext uri="{FF2B5EF4-FFF2-40B4-BE49-F238E27FC236}">
                <a16:creationId xmlns:a16="http://schemas.microsoft.com/office/drawing/2014/main" id="{69972B97-6191-4579-A7FA-C2513B2833A7}"/>
              </a:ext>
            </a:extLst>
          </p:cNvPr>
          <p:cNvSpPr>
            <a:spLocks xmlns:a="http://schemas.openxmlformats.org/drawingml/2006/main" noGrp="1"/>
          </p:cNvSpPr>
          <p:nvPr/>
        </p:nvSpPr>
        <p:spPr>
          <a:xfrm xmlns:a="http://schemas.openxmlformats.org/drawingml/2006/main">
            <a:off x="10572750" y="62865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7887"/>
                </a:solidFill>
                <a:latin typeface="Arial"/>
                <a:ea typeface="Arial"/>
                <a:cs typeface="Arial"/>
              </a:defRPr>
            </a:pPr>
            <a:r>
              <a:rPr sz="1200" b="0">
                <a:solidFill>
                  <a:srgbClr val="687887"/>
                </a:solidFill>
                <a:latin typeface="Arial"/>
                <a:ea typeface="Arial"/>
                <a:cs typeface="Arial"/>
              </a:rPr>
              <a:t>28 / 29</a:t>
            </a:r>
          </a:p>
        </p:txBody>
      </p:sp>
    </p:spTree>
    <p:extLst>
      <p:ext uri="{BB962C8B-B14F-4D97-AF65-F5344CB8AC3E}">
        <p14:creationId xmlns:p14="http://schemas.microsoft.com/office/powerpoint/2010/main" val="1284442250"/>
      </p:ext>
    </p:extLst>
  </p:cSld>
</p:sld>
</file>

<file path=ppt/slides/slide29.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0B8B30F-70F5-4727-BD71-274D75DFF48A}"/>
              </a:ext>
            </a:extLst>
          </p:cNvPr>
          <p:cNvSpPr>
            <a:spLocks xmlns:a="http://schemas.openxmlformats.org/drawingml/2006/main" noGrp="1"/>
          </p:cNvSpPr>
          <p:nvPr/>
        </p:nvSpPr>
        <p:spPr>
          <a:xfrm xmlns:a="http://schemas.openxmlformats.org/drawingml/2006/main">
            <a:off x="666750" y="5238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539"/>
                </a:solidFill>
                <a:latin typeface="Arial"/>
                <a:ea typeface="Arial"/>
                <a:cs typeface="Arial"/>
              </a:defRPr>
            </a:pPr>
            <a:r>
              <a:rPr sz="3300" b="1">
                <a:solidFill>
                  <a:srgbClr val="102539"/>
                </a:solidFill>
                <a:latin typeface="Arial"/>
                <a:ea typeface="Arial"/>
                <a:cs typeface="Arial"/>
              </a:rPr>
              <a:t>Maintenance ownership</a:t>
            </a:r>
          </a:p>
        </p:txBody>
      </p:sp>
      <p:sp>
        <p:nvSpPr>
          <p:cNvPr id="2" name="">
            <a:extLst xmlns:a="http://schemas.openxmlformats.org/drawingml/2006/main">
              <a:ext uri="{FF2B5EF4-FFF2-40B4-BE49-F238E27FC236}">
                <a16:creationId xmlns:a16="http://schemas.microsoft.com/office/drawing/2014/main" id="{75B5308E-238A-4192-88F4-DEF5AE889360}"/>
              </a:ext>
            </a:extLst>
          </p:cNvPr>
          <p:cNvSpPr>
            <a:spLocks xmlns:a="http://schemas.openxmlformats.org/drawingml/2006/main" noGrp="1"/>
          </p:cNvSpPr>
          <p:nvPr/>
        </p:nvSpPr>
        <p:spPr>
          <a:xfrm xmlns:a="http://schemas.openxmlformats.org/drawingml/2006/main">
            <a:off x="704850" y="1952625"/>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Website editors: images, branches, pastors and weekly content</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Calendar editors: Outlook Church Events</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Hosting administrator: deployment, access, email and backups</a:t>
            </a:r>
          </a:p>
          <a:p xmlns:a="http://schemas.openxmlformats.org/drawingml/2006/main">
            <a:pPr>
              <a:defRPr sz="2175" b="0">
                <a:solidFill>
                  <a:srgbClr val="314456"/>
                </a:solidFill>
                <a:latin typeface="Arial"/>
                <a:ea typeface="Arial"/>
                <a:cs typeface="Arial"/>
              </a:defRPr>
            </a:pPr>
            <a:r>
              <a:rPr sz="2175" b="0">
                <a:solidFill>
                  <a:srgbClr val="314456"/>
                </a:solidFill>
                <a:latin typeface="Arial"/>
                <a:ea typeface="Arial"/>
                <a:cs typeface="Arial"/>
              </a:rPr>
              <a:t>Developer: layout, general copy, API changes and release updates</a:t>
            </a:r>
          </a:p>
        </p:txBody>
      </p:sp>
      <p:sp>
        <p:nvSpPr>
          <p:cNvPr id="3" name="">
            <a:extLst xmlns:a="http://schemas.openxmlformats.org/drawingml/2006/main">
              <a:ext uri="{FF2B5EF4-FFF2-40B4-BE49-F238E27FC236}">
                <a16:creationId xmlns:a16="http://schemas.microsoft.com/office/drawing/2014/main" id="{3A3DC89F-69CD-49C8-AB71-0F4AC877691E}"/>
              </a:ext>
            </a:extLst>
          </p:cNvPr>
          <p:cNvSpPr>
            <a:spLocks xmlns:a="http://schemas.openxmlformats.org/drawingml/2006/main" noGrp="1"/>
          </p:cNvSpPr>
          <p:nvPr/>
        </p:nvSpPr>
        <p:spPr>
          <a:xfrm xmlns:a="http://schemas.openxmlformats.org/drawingml/2006/main">
            <a:off x="10572750" y="62865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7887"/>
                </a:solidFill>
                <a:latin typeface="Arial"/>
                <a:ea typeface="Arial"/>
                <a:cs typeface="Arial"/>
              </a:defRPr>
            </a:pPr>
            <a:r>
              <a:rPr sz="1200" b="0">
                <a:solidFill>
                  <a:srgbClr val="687887"/>
                </a:solidFill>
                <a:latin typeface="Arial"/>
                <a:ea typeface="Arial"/>
                <a:cs typeface="Arial"/>
              </a:rPr>
              <a:t>29 / 29</a:t>
            </a:r>
          </a:p>
        </p:txBody>
      </p:sp>
    </p:spTree>
    <p:extLst>
      <p:ext uri="{BB962C8B-B14F-4D97-AF65-F5344CB8AC3E}">
        <p14:creationId xmlns:p14="http://schemas.microsoft.com/office/powerpoint/2010/main" val="12755004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2026-10-13T01:15:34.7430000Z</dcterms:created>
  <dcterms:modified xsi:type="dcterms:W3CDTF">2026-10-13T01:15:34.7430000Z</dcterms:modified>
</coreProperties>
</file>